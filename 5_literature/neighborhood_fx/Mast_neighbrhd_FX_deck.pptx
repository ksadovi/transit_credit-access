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sldIdLst>
    <p:sldId id="387" r:id="rId3"/>
    <p:sldId id="536" r:id="rId4"/>
    <p:sldId id="486" r:id="rId5"/>
    <p:sldId id="487" r:id="rId6"/>
    <p:sldId id="488" r:id="rId7"/>
    <p:sldId id="530" r:id="rId8"/>
    <p:sldId id="513" r:id="rId9"/>
    <p:sldId id="431" r:id="rId10"/>
    <p:sldId id="531" r:id="rId11"/>
    <p:sldId id="514" r:id="rId12"/>
    <p:sldId id="258" r:id="rId13"/>
    <p:sldId id="259" r:id="rId14"/>
    <p:sldId id="515" r:id="rId15"/>
    <p:sldId id="516" r:id="rId16"/>
    <p:sldId id="517" r:id="rId17"/>
    <p:sldId id="518" r:id="rId18"/>
    <p:sldId id="519" r:id="rId19"/>
    <p:sldId id="520" r:id="rId20"/>
    <p:sldId id="523" r:id="rId21"/>
    <p:sldId id="534" r:id="rId22"/>
    <p:sldId id="522" r:id="rId23"/>
    <p:sldId id="532" r:id="rId24"/>
    <p:sldId id="535" r:id="rId25"/>
    <p:sldId id="262" r:id="rId26"/>
    <p:sldId id="268" r:id="rId27"/>
    <p:sldId id="263" r:id="rId28"/>
    <p:sldId id="526" r:id="rId29"/>
    <p:sldId id="527" r:id="rId30"/>
    <p:sldId id="528" r:id="rId31"/>
    <p:sldId id="529" r:id="rId32"/>
    <p:sldId id="266" r:id="rId33"/>
    <p:sldId id="533" r:id="rId34"/>
    <p:sldId id="485" r:id="rId35"/>
    <p:sldId id="489" r:id="rId36"/>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yra Sadovi" initials="KS" lastIdx="1" clrIdx="0">
    <p:extLst>
      <p:ext uri="{19B8F6BF-5375-455C-9EA6-DF929625EA0E}">
        <p15:presenceInfo xmlns:p15="http://schemas.microsoft.com/office/powerpoint/2012/main" userId="Kyra Sadov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p:cViewPr varScale="1">
        <p:scale>
          <a:sx n="63" d="100"/>
          <a:sy n="63" d="100"/>
        </p:scale>
        <p:origin x="6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6-06T10:36:14.243" idx="1">
    <p:pos x="5646" y="3060"/>
    <p:text>What characteristics did you construct?</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CE4BCB00-10AF-43B9-AB18-183888E49DF4}" type="datetimeFigureOut">
              <a:rPr lang="en-US" smtClean="0"/>
              <a:t>6/6/2022</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44BDFB86-5744-4C18-94EC-2CD610365947}" type="slidenum">
              <a:rPr lang="en-US" smtClean="0"/>
              <a:t>‹#›</a:t>
            </a:fld>
            <a:endParaRPr lang="en-US"/>
          </a:p>
        </p:txBody>
      </p:sp>
    </p:spTree>
    <p:extLst>
      <p:ext uri="{BB962C8B-B14F-4D97-AF65-F5344CB8AC3E}">
        <p14:creationId xmlns:p14="http://schemas.microsoft.com/office/powerpoint/2010/main" val="1195359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C6F26-E2DB-4C43-9F7A-DF76B5E862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852348-9810-4646-BECC-F75EE73C6A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505334-2A52-41A8-9BDD-8272915D1021}"/>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5" name="Footer Placeholder 4">
            <a:extLst>
              <a:ext uri="{FF2B5EF4-FFF2-40B4-BE49-F238E27FC236}">
                <a16:creationId xmlns:a16="http://schemas.microsoft.com/office/drawing/2014/main" id="{587E2550-9E10-4C1B-8FF9-4A0B51392C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395DF-375B-4656-96C6-B435453CFE09}"/>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3755566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19480-39B0-40D1-90C6-23C4A4746404}"/>
              </a:ext>
            </a:extLst>
          </p:cNvPr>
          <p:cNvSpPr>
            <a:spLocks noGrp="1"/>
          </p:cNvSpPr>
          <p:nvPr>
            <p:ph type="title"/>
          </p:nvPr>
        </p:nvSpPr>
        <p:spPr/>
        <p:txBody>
          <a:bodyPr>
            <a:normAutofit/>
          </a:bodyPr>
          <a:lstStyle>
            <a:lvl1pPr>
              <a:defRPr sz="360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FCBE563-0C20-4494-AD62-2A66E9C72950}"/>
              </a:ext>
            </a:extLst>
          </p:cNvPr>
          <p:cNvSpPr>
            <a:spLocks noGrp="1"/>
          </p:cNvSpPr>
          <p:nvPr>
            <p:ph idx="1"/>
          </p:nvPr>
        </p:nvSpPr>
        <p:spPr/>
        <p:txBody>
          <a:bodyPr>
            <a:normAutofit/>
          </a:bodyPr>
          <a:lstStyle>
            <a:lvl1pPr>
              <a:defRPr sz="2200"/>
            </a:lvl1pPr>
            <a:lvl2pPr>
              <a:defRPr sz="2200"/>
            </a:lvl2pPr>
            <a:lvl3pPr>
              <a:defRPr sz="2200"/>
            </a:lvl3pPr>
            <a:lvl4pPr>
              <a:defRPr sz="2200"/>
            </a:lvl4pPr>
            <a:lvl5pPr>
              <a:defRPr sz="2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CEE11C-FF2F-432B-A6DF-FA3E25E63969}"/>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5" name="Footer Placeholder 4">
            <a:extLst>
              <a:ext uri="{FF2B5EF4-FFF2-40B4-BE49-F238E27FC236}">
                <a16:creationId xmlns:a16="http://schemas.microsoft.com/office/drawing/2014/main" id="{1336A581-E186-4A12-8FE7-4D16548D9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FA2B0-6183-4EBE-AB79-15C607BEA5DB}"/>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1185528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DD60C-E353-499A-8E5B-2AFFDF58D8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16EC7F-B53A-4E12-B28B-24DFBD404C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A1AB309-7FBD-42DA-90A8-73109C262809}"/>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5" name="Footer Placeholder 4">
            <a:extLst>
              <a:ext uri="{FF2B5EF4-FFF2-40B4-BE49-F238E27FC236}">
                <a16:creationId xmlns:a16="http://schemas.microsoft.com/office/drawing/2014/main" id="{128C5F2A-44FC-4120-887B-8D2002612C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6F359-512D-40CC-A5BB-3DEBBDE08392}"/>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1249331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BDA4-88D2-4CBD-B2A3-1F956AE8A9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292799-8420-4A3F-9EC8-4A37C23622E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14AA7C-DAF0-4250-8F79-CD1D10C34CA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FCA1B6-39A1-46B1-8B4F-C3D6F2B87E3B}"/>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6" name="Footer Placeholder 5">
            <a:extLst>
              <a:ext uri="{FF2B5EF4-FFF2-40B4-BE49-F238E27FC236}">
                <a16:creationId xmlns:a16="http://schemas.microsoft.com/office/drawing/2014/main" id="{0A017AD9-720B-4BF6-AB16-978A331C1F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8D991-ECE2-447D-B6C8-4E0C891E0A91}"/>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1291802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3CD2-8AC4-404E-9588-75F56B5A49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7C6289-776C-48D9-BD5C-B71937F94B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DDB0F8A-CEA6-4686-9C81-F951C5B483C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35074E-5F0F-46F2-B12D-C84C9E5069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BEB3-A548-472D-B15C-F28D716AA9A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0427DF-543C-45E1-BE33-2B8D78270CDD}"/>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8" name="Footer Placeholder 7">
            <a:extLst>
              <a:ext uri="{FF2B5EF4-FFF2-40B4-BE49-F238E27FC236}">
                <a16:creationId xmlns:a16="http://schemas.microsoft.com/office/drawing/2014/main" id="{D95E20EF-AEAC-4A9B-A22C-73D5BE00CB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1AC8FC-6862-48F3-9C88-F0CC2448EECA}"/>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1110953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C72F4-C9FF-41CB-BAAC-977352C903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A30FBE-3280-4E86-9DFE-CC504617EA3D}"/>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4" name="Footer Placeholder 3">
            <a:extLst>
              <a:ext uri="{FF2B5EF4-FFF2-40B4-BE49-F238E27FC236}">
                <a16:creationId xmlns:a16="http://schemas.microsoft.com/office/drawing/2014/main" id="{74CC8EFB-46D9-45E4-B083-919724C7E8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C69662-9FB9-41E4-BFFA-062B499D72C2}"/>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3209445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D3E079-CCF4-48DF-A490-52A3C95A7C16}"/>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3" name="Footer Placeholder 2">
            <a:extLst>
              <a:ext uri="{FF2B5EF4-FFF2-40B4-BE49-F238E27FC236}">
                <a16:creationId xmlns:a16="http://schemas.microsoft.com/office/drawing/2014/main" id="{66E2C29F-CA8E-4113-A502-DD536BA4DB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E5941A-35B3-4BE8-A812-6C148623C8C6}"/>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3284579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4FA42-F946-4EA9-87BE-FB4961813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C3E567-03A5-419D-9F5F-260F5617BC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A4D26D-28EC-4D3A-AFF9-01A349540D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70B6320-036C-4A43-BA94-85C347B56EB9}"/>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6" name="Footer Placeholder 5">
            <a:extLst>
              <a:ext uri="{FF2B5EF4-FFF2-40B4-BE49-F238E27FC236}">
                <a16:creationId xmlns:a16="http://schemas.microsoft.com/office/drawing/2014/main" id="{AAE2E64E-DD6C-41AA-858D-BB939615B4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3F4769-2FC0-4ECB-861B-0D3AB88E3FD3}"/>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410771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EEF2-8D0B-4E62-9283-5B9E8DC1B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8F89CD-F72E-419D-9CE6-BB0BA87322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B3D9DB-4B00-4274-8688-34199EDAC8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B55870B-9354-4EC4-8459-5FA08E9054AF}"/>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6" name="Footer Placeholder 5">
            <a:extLst>
              <a:ext uri="{FF2B5EF4-FFF2-40B4-BE49-F238E27FC236}">
                <a16:creationId xmlns:a16="http://schemas.microsoft.com/office/drawing/2014/main" id="{A4CE8FDC-C32F-41D6-9B66-F83DB07770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C46E82-9280-41B7-8599-6C4517F4806B}"/>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3416090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0E410-4992-4E88-BEF8-CFEF61AB72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E0DDDC-336E-41EE-BDCC-19CB81BE91F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17F35B-02B7-4BDE-9A79-4F52310639AE}"/>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5" name="Footer Placeholder 4">
            <a:extLst>
              <a:ext uri="{FF2B5EF4-FFF2-40B4-BE49-F238E27FC236}">
                <a16:creationId xmlns:a16="http://schemas.microsoft.com/office/drawing/2014/main" id="{439F6B5D-9564-42B7-AB9C-62A09F33E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6502A9-57D2-42F3-9BA2-D93A07B46CF5}"/>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2186666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03B41C-89C6-4DF6-8650-DBBC5FCF356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A9B889-42CA-46A8-888E-83FE32E12DD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FF21DA-74D5-4A02-8201-2FFC83494ABC}"/>
              </a:ext>
            </a:extLst>
          </p:cNvPr>
          <p:cNvSpPr>
            <a:spLocks noGrp="1"/>
          </p:cNvSpPr>
          <p:nvPr>
            <p:ph type="dt" sz="half" idx="10"/>
          </p:nvPr>
        </p:nvSpPr>
        <p:spPr/>
        <p:txBody>
          <a:bodyPr/>
          <a:lstStyle/>
          <a:p>
            <a:fld id="{E62879BC-AE4B-446B-845A-1B0D8325CBC1}" type="datetimeFigureOut">
              <a:rPr lang="en-US" smtClean="0"/>
              <a:t>6/6/2022</a:t>
            </a:fld>
            <a:endParaRPr lang="en-US"/>
          </a:p>
        </p:txBody>
      </p:sp>
      <p:sp>
        <p:nvSpPr>
          <p:cNvPr id="5" name="Footer Placeholder 4">
            <a:extLst>
              <a:ext uri="{FF2B5EF4-FFF2-40B4-BE49-F238E27FC236}">
                <a16:creationId xmlns:a16="http://schemas.microsoft.com/office/drawing/2014/main" id="{0ED51AA7-847A-440D-8551-E01A25903B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70875-1E07-4144-998D-5CCC465A1BE2}"/>
              </a:ext>
            </a:extLst>
          </p:cNvPr>
          <p:cNvSpPr>
            <a:spLocks noGrp="1"/>
          </p:cNvSpPr>
          <p:nvPr>
            <p:ph type="sldNum" sz="quarter" idx="12"/>
          </p:nvPr>
        </p:nvSpPr>
        <p:spPr/>
        <p:txBody>
          <a:bodyPr/>
          <a:lstStyle/>
          <a:p>
            <a:fld id="{89E90381-2137-44B1-80E3-BBF4331B41F2}" type="slidenum">
              <a:rPr lang="en-US" smtClean="0"/>
              <a:t>‹#›</a:t>
            </a:fld>
            <a:endParaRPr lang="en-US"/>
          </a:p>
        </p:txBody>
      </p:sp>
    </p:spTree>
    <p:extLst>
      <p:ext uri="{BB962C8B-B14F-4D97-AF65-F5344CB8AC3E}">
        <p14:creationId xmlns:p14="http://schemas.microsoft.com/office/powerpoint/2010/main" val="1777589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8BF8F-C648-4E1A-9285-C6DD44AEC129}"/>
              </a:ext>
            </a:extLst>
          </p:cNvPr>
          <p:cNvSpPr>
            <a:spLocks noGrp="1"/>
          </p:cNvSpPr>
          <p:nvPr>
            <p:ph type="ctrTitle"/>
          </p:nvPr>
        </p:nvSpPr>
        <p:spPr>
          <a:xfrm>
            <a:off x="1524000" y="1122363"/>
            <a:ext cx="9144000" cy="2387600"/>
          </a:xfrm>
        </p:spPr>
        <p:txBody>
          <a:bodyPr anchor="b">
            <a:normAutofit/>
          </a:bodyPr>
          <a:lstStyle>
            <a:lvl1pPr algn="ctr">
              <a:defRPr sz="3600">
                <a:solidFill>
                  <a:schemeClr val="accent1"/>
                </a:solidFill>
              </a:defRPr>
            </a:lvl1pPr>
          </a:lstStyle>
          <a:p>
            <a:r>
              <a:rPr lang="en-US" dirty="0"/>
              <a:t>Click to edit Master title style</a:t>
            </a:r>
          </a:p>
        </p:txBody>
      </p:sp>
      <p:sp>
        <p:nvSpPr>
          <p:cNvPr id="3" name="Subtitle 2">
            <a:extLst>
              <a:ext uri="{FF2B5EF4-FFF2-40B4-BE49-F238E27FC236}">
                <a16:creationId xmlns:a16="http://schemas.microsoft.com/office/drawing/2014/main" id="{5ADCB9DD-9BB6-46AF-A86E-141F65F5AF9C}"/>
              </a:ext>
            </a:extLst>
          </p:cNvPr>
          <p:cNvSpPr>
            <a:spLocks noGrp="1"/>
          </p:cNvSpPr>
          <p:nvPr>
            <p:ph type="subTitle" idx="1"/>
          </p:nvPr>
        </p:nvSpPr>
        <p:spPr>
          <a:xfrm>
            <a:off x="1524000" y="3602038"/>
            <a:ext cx="9144000" cy="1655762"/>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8903AE9-5736-44B0-B4E1-0F5FFA9C46B5}"/>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5" name="Footer Placeholder 4">
            <a:extLst>
              <a:ext uri="{FF2B5EF4-FFF2-40B4-BE49-F238E27FC236}">
                <a16:creationId xmlns:a16="http://schemas.microsoft.com/office/drawing/2014/main" id="{863FE041-67CE-4B86-9503-836C3AAE6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65F15-E9F1-4E69-97A1-E5CDF8F2FE41}"/>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2840902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02C6F-652A-4E2C-91D5-F53C76BD7A83}"/>
              </a:ext>
            </a:extLst>
          </p:cNvPr>
          <p:cNvSpPr>
            <a:spLocks noGrp="1"/>
          </p:cNvSpPr>
          <p:nvPr>
            <p:ph type="title"/>
          </p:nvPr>
        </p:nvSpPr>
        <p:spPr/>
        <p:txBody>
          <a:bodyPr>
            <a:normAutofit/>
          </a:bodyPr>
          <a:lstStyle>
            <a:lvl1pPr>
              <a:defRPr sz="360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F67BC36-2DC0-4A8B-93CF-3F66E26D3D6D}"/>
              </a:ext>
            </a:extLst>
          </p:cNvPr>
          <p:cNvSpPr>
            <a:spLocks noGrp="1"/>
          </p:cNvSpPr>
          <p:nvPr>
            <p:ph idx="1"/>
          </p:nvPr>
        </p:nvSpPr>
        <p:spPr/>
        <p:txBody>
          <a:bodyPr>
            <a:normAutofit/>
          </a:bodyPr>
          <a:lstStyle>
            <a:lvl1pPr>
              <a:defRPr sz="2200"/>
            </a:lvl1pPr>
            <a:lvl2pPr>
              <a:defRPr sz="2200"/>
            </a:lvl2pPr>
            <a:lvl3pPr>
              <a:defRPr sz="2200"/>
            </a:lvl3pPr>
            <a:lvl4pPr>
              <a:defRPr sz="2200"/>
            </a:lvl4pPr>
            <a:lvl5pPr>
              <a:defRPr sz="2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CEF75CD-B607-4AAD-858C-3B9B72491C70}"/>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5" name="Footer Placeholder 4">
            <a:extLst>
              <a:ext uri="{FF2B5EF4-FFF2-40B4-BE49-F238E27FC236}">
                <a16:creationId xmlns:a16="http://schemas.microsoft.com/office/drawing/2014/main" id="{C20A3BA1-E2B6-4EA6-9CCB-E7FF2D03E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F9D733-323E-42D9-9BC2-7B2EA0C8FD60}"/>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54477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EF2A1-B041-4987-B6A3-938D3A1CF2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AE72A3-F1A5-4FB3-8E4C-F27D30F8EB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FFE6F5-733E-4263-83B5-FCFCA8195DE2}"/>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5" name="Footer Placeholder 4">
            <a:extLst>
              <a:ext uri="{FF2B5EF4-FFF2-40B4-BE49-F238E27FC236}">
                <a16:creationId xmlns:a16="http://schemas.microsoft.com/office/drawing/2014/main" id="{FA1776E4-7D37-4243-AB2D-1831BE79F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7D740-E326-4D40-A62E-EC69CFBC0C58}"/>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567546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35082-83BB-41DE-85AD-5D6D6B6ECD50}"/>
              </a:ext>
            </a:extLst>
          </p:cNvPr>
          <p:cNvSpPr>
            <a:spLocks noGrp="1"/>
          </p:cNvSpPr>
          <p:nvPr>
            <p:ph type="title"/>
          </p:nvPr>
        </p:nvSpPr>
        <p:spPr/>
        <p:txBody>
          <a:bodyPr>
            <a:normAutofit/>
          </a:bodyPr>
          <a:lstStyle>
            <a:lvl1pPr>
              <a:defRPr sz="3600">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5F21125-772C-4637-9C3E-D49AC8EFBF26}"/>
              </a:ext>
            </a:extLst>
          </p:cNvPr>
          <p:cNvSpPr>
            <a:spLocks noGrp="1"/>
          </p:cNvSpPr>
          <p:nvPr>
            <p:ph sz="half" idx="1"/>
          </p:nvPr>
        </p:nvSpPr>
        <p:spPr>
          <a:xfrm>
            <a:off x="838200" y="1825625"/>
            <a:ext cx="5181600" cy="4351338"/>
          </a:xfrm>
        </p:spPr>
        <p:txBody>
          <a:bodyPr>
            <a:normAutofit/>
          </a:bodyPr>
          <a:lstStyle>
            <a:lvl1pPr>
              <a:defRPr sz="2200"/>
            </a:lvl1pPr>
            <a:lvl2pPr>
              <a:defRPr sz="2200"/>
            </a:lvl2pPr>
            <a:lvl3pPr>
              <a:defRPr sz="2200"/>
            </a:lvl3pPr>
            <a:lvl4pPr>
              <a:defRPr sz="2200"/>
            </a:lvl4pPr>
            <a:lvl5pPr>
              <a:defRPr sz="2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7EE762D-32A0-4264-BB97-7AEA7E28B7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5E90A6-C4B5-4123-A47B-A02D85736BE8}"/>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6" name="Footer Placeholder 5">
            <a:extLst>
              <a:ext uri="{FF2B5EF4-FFF2-40B4-BE49-F238E27FC236}">
                <a16:creationId xmlns:a16="http://schemas.microsoft.com/office/drawing/2014/main" id="{6CE9BE6A-3587-4A53-BA07-82D4DC39EF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A0E8D6-C8C4-4DB8-9A55-F828E7AC45F5}"/>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3514652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75934-4378-403E-A86D-9770FD6000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D9DD29E-B1C6-4EA9-9E70-CCE0CCD3A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0EDF5B-4767-4636-B906-E285227F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75A476-1759-4AA2-A556-AACD85349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A66626-9F80-4C3E-BD2B-4139CB31FD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67D411-3ADF-4625-8249-4CD53887EBD2}"/>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8" name="Footer Placeholder 7">
            <a:extLst>
              <a:ext uri="{FF2B5EF4-FFF2-40B4-BE49-F238E27FC236}">
                <a16:creationId xmlns:a16="http://schemas.microsoft.com/office/drawing/2014/main" id="{5E4B7614-D6D8-4076-9FCC-F969C88DB9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43241A-C8CF-44B1-A250-05F7B23E80BA}"/>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2313191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1A98B-EC6C-42A2-82CB-A31CB1678F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212B5A-4153-4274-B1E4-027BC42C2AB7}"/>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4" name="Footer Placeholder 3">
            <a:extLst>
              <a:ext uri="{FF2B5EF4-FFF2-40B4-BE49-F238E27FC236}">
                <a16:creationId xmlns:a16="http://schemas.microsoft.com/office/drawing/2014/main" id="{75AABEAB-C504-4DF6-93E0-8F587A3CB6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98C0A8-CF6C-40DB-9632-C0EA9D60BB0A}"/>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33718171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D78985-7209-4A60-B210-55CA0C712A5B}"/>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3" name="Footer Placeholder 2">
            <a:extLst>
              <a:ext uri="{FF2B5EF4-FFF2-40B4-BE49-F238E27FC236}">
                <a16:creationId xmlns:a16="http://schemas.microsoft.com/office/drawing/2014/main" id="{D3720446-CC98-4C36-BB74-A946BD77B8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53A7B1-1BCA-4776-ADFE-EACD75293DDE}"/>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20108459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1E5B-6558-41FF-A159-6786F39015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F323C4-6A4D-4A73-A89E-EA20D0F5AA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C1078D-9243-47BD-A0CE-2814B69C3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FF3AAE-0201-4C16-8959-3CC66C236F7F}"/>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6" name="Footer Placeholder 5">
            <a:extLst>
              <a:ext uri="{FF2B5EF4-FFF2-40B4-BE49-F238E27FC236}">
                <a16:creationId xmlns:a16="http://schemas.microsoft.com/office/drawing/2014/main" id="{29EA2712-713C-4AE8-8AC9-1F2B722EC4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E896F4-AEB8-49B5-8B31-D0421D4C7857}"/>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14069118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005-7EBB-494C-8D2B-1A16548059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311FB2-E4CC-46A8-9814-DB871C60D0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6B7D99-EBE8-4101-8143-8B99C91252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74EFC8-E3BB-4BC0-9B25-650DC632DA2E}"/>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6" name="Footer Placeholder 5">
            <a:extLst>
              <a:ext uri="{FF2B5EF4-FFF2-40B4-BE49-F238E27FC236}">
                <a16:creationId xmlns:a16="http://schemas.microsoft.com/office/drawing/2014/main" id="{9B59BD82-A3C0-4EB1-B5BE-C631AF9AC0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BD7EB-2D17-4B6C-841F-35D9898AA826}"/>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909206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33411-F6CE-4226-AC86-D6E35C45F9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51AE57-9593-4FD2-9F93-B0DEA46648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797F7C-9FA4-447D-8EC7-EE7C3A623E2F}"/>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5" name="Footer Placeholder 4">
            <a:extLst>
              <a:ext uri="{FF2B5EF4-FFF2-40B4-BE49-F238E27FC236}">
                <a16:creationId xmlns:a16="http://schemas.microsoft.com/office/drawing/2014/main" id="{B0B8D368-2208-473C-B167-E40071434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15F3F4-9249-4EA2-99B9-F26275572753}"/>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32901007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E42822-42F6-4DB3-8BBF-55C59114A3F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E057AD-B4D8-4D4D-9218-901AEFBF9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2E8CC-5E1A-47F0-A429-134786B1EF46}"/>
              </a:ext>
            </a:extLst>
          </p:cNvPr>
          <p:cNvSpPr>
            <a:spLocks noGrp="1"/>
          </p:cNvSpPr>
          <p:nvPr>
            <p:ph type="dt" sz="half" idx="10"/>
          </p:nvPr>
        </p:nvSpPr>
        <p:spPr/>
        <p:txBody>
          <a:bodyPr/>
          <a:lstStyle/>
          <a:p>
            <a:fld id="{6B751BE8-6AE4-4113-8950-C2CEC3F9789B}" type="datetimeFigureOut">
              <a:rPr lang="en-US" smtClean="0"/>
              <a:t>6/6/2022</a:t>
            </a:fld>
            <a:endParaRPr lang="en-US"/>
          </a:p>
        </p:txBody>
      </p:sp>
      <p:sp>
        <p:nvSpPr>
          <p:cNvPr id="5" name="Footer Placeholder 4">
            <a:extLst>
              <a:ext uri="{FF2B5EF4-FFF2-40B4-BE49-F238E27FC236}">
                <a16:creationId xmlns:a16="http://schemas.microsoft.com/office/drawing/2014/main" id="{1941D3B9-72EF-4E57-B9BE-03A7048CE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3A7F43-37B5-454C-9E40-09866D7C0E80}"/>
              </a:ext>
            </a:extLst>
          </p:cNvPr>
          <p:cNvSpPr>
            <a:spLocks noGrp="1"/>
          </p:cNvSpPr>
          <p:nvPr>
            <p:ph type="sldNum" sz="quarter" idx="12"/>
          </p:nvPr>
        </p:nvSpPr>
        <p:spPr/>
        <p:txBody>
          <a:bodyPr/>
          <a:lstStyle/>
          <a:p>
            <a:fld id="{61D8EF8E-2A26-4E52-80B9-2A8693398251}" type="slidenum">
              <a:rPr lang="en-US" smtClean="0"/>
              <a:t>‹#›</a:t>
            </a:fld>
            <a:endParaRPr lang="en-US"/>
          </a:p>
        </p:txBody>
      </p:sp>
    </p:spTree>
    <p:extLst>
      <p:ext uri="{BB962C8B-B14F-4D97-AF65-F5344CB8AC3E}">
        <p14:creationId xmlns:p14="http://schemas.microsoft.com/office/powerpoint/2010/main" val="1115010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24A7F2-BF6E-4A97-A2D5-2E5CFF8935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257096-6749-4E28-89D4-62B427AE8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E4485-F519-4988-9ABE-EE27BD027A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2879BC-AE4B-446B-845A-1B0D8325CBC1}" type="datetimeFigureOut">
              <a:rPr lang="en-US" smtClean="0"/>
              <a:t>6/6/2022</a:t>
            </a:fld>
            <a:endParaRPr lang="en-US"/>
          </a:p>
        </p:txBody>
      </p:sp>
      <p:sp>
        <p:nvSpPr>
          <p:cNvPr id="5" name="Footer Placeholder 4">
            <a:extLst>
              <a:ext uri="{FF2B5EF4-FFF2-40B4-BE49-F238E27FC236}">
                <a16:creationId xmlns:a16="http://schemas.microsoft.com/office/drawing/2014/main" id="{688D60CB-64BD-48DD-8F1D-D8FD0A260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FCA30E-2311-4FD2-9F0E-B2863820DF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E90381-2137-44B1-80E3-BBF4331B41F2}" type="slidenum">
              <a:rPr lang="en-US" smtClean="0"/>
              <a:t>‹#›</a:t>
            </a:fld>
            <a:endParaRPr lang="en-US"/>
          </a:p>
        </p:txBody>
      </p:sp>
      <p:sp>
        <p:nvSpPr>
          <p:cNvPr id="7" name="MSIPCMContentMarking" descr="{&quot;HashCode&quot;:-987896531,&quot;Placement&quot;:&quot;Header&quot;,&quot;Top&quot;:0.0,&quot;Left&quot;:0.0,&quot;SlideWidth&quot;:960,&quot;SlideHeight&quot;:540}">
            <a:extLst>
              <a:ext uri="{FF2B5EF4-FFF2-40B4-BE49-F238E27FC236}">
                <a16:creationId xmlns:a16="http://schemas.microsoft.com/office/drawing/2014/main" id="{EBFCF8AF-CC93-4208-BBAE-D51675AB43C4}"/>
              </a:ext>
            </a:extLst>
          </p:cNvPr>
          <p:cNvSpPr txBox="1"/>
          <p:nvPr userDrawn="1"/>
        </p:nvSpPr>
        <p:spPr>
          <a:xfrm>
            <a:off x="0" y="0"/>
            <a:ext cx="2316794" cy="279435"/>
          </a:xfrm>
          <a:prstGeom prst="rect">
            <a:avLst/>
          </a:prstGeom>
          <a:noFill/>
        </p:spPr>
        <p:txBody>
          <a:bodyPr vert="horz" wrap="square" lIns="0" tIns="0" rIns="0" bIns="0" rtlCol="0" anchor="ctr" anchorCtr="1">
            <a:spAutoFit/>
          </a:bodyPr>
          <a:lstStyle/>
          <a:p>
            <a:pPr algn="l">
              <a:spcBef>
                <a:spcPts val="0"/>
              </a:spcBef>
              <a:spcAft>
                <a:spcPts val="0"/>
              </a:spcAft>
            </a:pPr>
            <a:r>
              <a:rPr lang="en-US" sz="1100">
                <a:solidFill>
                  <a:srgbClr val="000000"/>
                </a:solidFill>
                <a:latin typeface="Calibri" panose="020F0502020204030204" pitchFamily="34" charset="0"/>
              </a:rPr>
              <a:t>PERSONAL/NONWORK // FRSONLY</a:t>
            </a:r>
          </a:p>
        </p:txBody>
      </p:sp>
    </p:spTree>
    <p:extLst>
      <p:ext uri="{BB962C8B-B14F-4D97-AF65-F5344CB8AC3E}">
        <p14:creationId xmlns:p14="http://schemas.microsoft.com/office/powerpoint/2010/main" val="3141812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F62337-B71E-4F62-AF9E-CF39A248E4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496788-FF3A-4B7F-A47C-9710190F58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3A1E8-C705-42D1-8BE7-B068B97968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751BE8-6AE4-4113-8950-C2CEC3F9789B}" type="datetimeFigureOut">
              <a:rPr lang="en-US" smtClean="0"/>
              <a:t>6/6/2022</a:t>
            </a:fld>
            <a:endParaRPr lang="en-US"/>
          </a:p>
        </p:txBody>
      </p:sp>
      <p:sp>
        <p:nvSpPr>
          <p:cNvPr id="5" name="Footer Placeholder 4">
            <a:extLst>
              <a:ext uri="{FF2B5EF4-FFF2-40B4-BE49-F238E27FC236}">
                <a16:creationId xmlns:a16="http://schemas.microsoft.com/office/drawing/2014/main" id="{E02AF597-B970-4CFA-8ED8-5BFB0F34EB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5D01C8-06F7-42E1-AF4F-61161652A1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D8EF8E-2A26-4E52-80B9-2A8693398251}" type="slidenum">
              <a:rPr lang="en-US" smtClean="0"/>
              <a:t>‹#›</a:t>
            </a:fld>
            <a:endParaRPr lang="en-US"/>
          </a:p>
        </p:txBody>
      </p:sp>
      <p:sp>
        <p:nvSpPr>
          <p:cNvPr id="8" name="MSIPCMContentMarking" descr="{&quot;HashCode&quot;:-987896531,&quot;Placement&quot;:&quot;Header&quot;,&quot;Top&quot;:0.0,&quot;Left&quot;:0.0,&quot;SlideWidth&quot;:960,&quot;SlideHeight&quot;:540}">
            <a:extLst>
              <a:ext uri="{FF2B5EF4-FFF2-40B4-BE49-F238E27FC236}">
                <a16:creationId xmlns:a16="http://schemas.microsoft.com/office/drawing/2014/main" id="{EBEB487A-DA81-4187-A972-D00A8AF64C73}"/>
              </a:ext>
            </a:extLst>
          </p:cNvPr>
          <p:cNvSpPr txBox="1"/>
          <p:nvPr userDrawn="1"/>
        </p:nvSpPr>
        <p:spPr>
          <a:xfrm>
            <a:off x="0" y="0"/>
            <a:ext cx="2316794" cy="279435"/>
          </a:xfrm>
          <a:prstGeom prst="rect">
            <a:avLst/>
          </a:prstGeom>
          <a:noFill/>
        </p:spPr>
        <p:txBody>
          <a:bodyPr vert="horz" wrap="square" lIns="0" tIns="0" rIns="0" bIns="0" rtlCol="0" anchor="ctr" anchorCtr="1">
            <a:spAutoFit/>
          </a:bodyPr>
          <a:lstStyle/>
          <a:p>
            <a:pPr algn="l">
              <a:spcBef>
                <a:spcPts val="0"/>
              </a:spcBef>
              <a:spcAft>
                <a:spcPts val="0"/>
              </a:spcAft>
            </a:pPr>
            <a:r>
              <a:rPr lang="en-US" sz="1100">
                <a:solidFill>
                  <a:srgbClr val="000000"/>
                </a:solidFill>
                <a:latin typeface="Calibri" panose="020F0502020204030204" pitchFamily="34" charset="0"/>
              </a:rPr>
              <a:t>PERSONAL/NONWORK // FRSONLY</a:t>
            </a:r>
          </a:p>
        </p:txBody>
      </p:sp>
    </p:spTree>
    <p:extLst>
      <p:ext uri="{BB962C8B-B14F-4D97-AF65-F5344CB8AC3E}">
        <p14:creationId xmlns:p14="http://schemas.microsoft.com/office/powerpoint/2010/main" val="39909379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6AE1A-15F4-47B1-B720-405ACF376F55}"/>
              </a:ext>
            </a:extLst>
          </p:cNvPr>
          <p:cNvSpPr>
            <a:spLocks noGrp="1"/>
          </p:cNvSpPr>
          <p:nvPr>
            <p:ph type="ctrTitle"/>
          </p:nvPr>
        </p:nvSpPr>
        <p:spPr/>
        <p:txBody>
          <a:bodyPr>
            <a:normAutofit/>
          </a:bodyPr>
          <a:lstStyle/>
          <a:p>
            <a:r>
              <a:rPr lang="en-US" dirty="0"/>
              <a:t>Concentrated Poverty, Selective Migration, and Place-Based Policy</a:t>
            </a:r>
          </a:p>
        </p:txBody>
      </p:sp>
      <p:sp>
        <p:nvSpPr>
          <p:cNvPr id="3" name="Subtitle 2">
            <a:extLst>
              <a:ext uri="{FF2B5EF4-FFF2-40B4-BE49-F238E27FC236}">
                <a16:creationId xmlns:a16="http://schemas.microsoft.com/office/drawing/2014/main" id="{9AE9322C-092E-4337-92BC-208683017D98}"/>
              </a:ext>
            </a:extLst>
          </p:cNvPr>
          <p:cNvSpPr>
            <a:spLocks noGrp="1"/>
          </p:cNvSpPr>
          <p:nvPr>
            <p:ph type="subTitle" idx="1"/>
          </p:nvPr>
        </p:nvSpPr>
        <p:spPr>
          <a:xfrm>
            <a:off x="2511553" y="3963457"/>
            <a:ext cx="3584447" cy="900834"/>
          </a:xfrm>
        </p:spPr>
        <p:txBody>
          <a:bodyPr>
            <a:normAutofit/>
          </a:bodyPr>
          <a:lstStyle/>
          <a:p>
            <a:r>
              <a:rPr lang="en-US" sz="2200" dirty="0"/>
              <a:t>Evan Mast </a:t>
            </a:r>
          </a:p>
          <a:p>
            <a:r>
              <a:rPr lang="en-US" sz="2200" dirty="0"/>
              <a:t>(Notre Dame)</a:t>
            </a:r>
          </a:p>
        </p:txBody>
      </p:sp>
      <p:sp>
        <p:nvSpPr>
          <p:cNvPr id="4" name="Subtitle 2">
            <a:extLst>
              <a:ext uri="{FF2B5EF4-FFF2-40B4-BE49-F238E27FC236}">
                <a16:creationId xmlns:a16="http://schemas.microsoft.com/office/drawing/2014/main" id="{574DD2F9-4C48-4D0A-84F1-FA1114946ABC}"/>
              </a:ext>
            </a:extLst>
          </p:cNvPr>
          <p:cNvSpPr txBox="1">
            <a:spLocks/>
          </p:cNvSpPr>
          <p:nvPr/>
        </p:nvSpPr>
        <p:spPr>
          <a:xfrm>
            <a:off x="6096000" y="3902847"/>
            <a:ext cx="3749040" cy="10220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Davin Reed</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(Philadelphia Fed)</a:t>
            </a:r>
          </a:p>
        </p:txBody>
      </p:sp>
      <p:sp>
        <p:nvSpPr>
          <p:cNvPr id="5" name="TextBox 4">
            <a:extLst>
              <a:ext uri="{FF2B5EF4-FFF2-40B4-BE49-F238E27FC236}">
                <a16:creationId xmlns:a16="http://schemas.microsoft.com/office/drawing/2014/main" id="{DF01FC01-C60A-45EE-A8EA-195BD3CFE7BE}"/>
              </a:ext>
            </a:extLst>
          </p:cNvPr>
          <p:cNvSpPr txBox="1"/>
          <p:nvPr/>
        </p:nvSpPr>
        <p:spPr>
          <a:xfrm>
            <a:off x="1932432" y="6339840"/>
            <a:ext cx="952804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rPr>
              <a:t>Disclaimer: The views expressed here are those of the presenter and do not necessarily reflect those of the Federal Reserve Bank of Philadelphia or the Federal Reserve System.</a:t>
            </a:r>
          </a:p>
        </p:txBody>
      </p:sp>
    </p:spTree>
    <p:extLst>
      <p:ext uri="{BB962C8B-B14F-4D97-AF65-F5344CB8AC3E}">
        <p14:creationId xmlns:p14="http://schemas.microsoft.com/office/powerpoint/2010/main" val="2889902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0D32-B086-4FE3-98B2-ABAE532CB5F4}"/>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6BAC9630-A924-4A3F-A56D-9E18FC9E4EC7}"/>
              </a:ext>
            </a:extLst>
          </p:cNvPr>
          <p:cNvSpPr>
            <a:spLocks noGrp="1"/>
          </p:cNvSpPr>
          <p:nvPr>
            <p:ph idx="1"/>
          </p:nvPr>
        </p:nvSpPr>
        <p:spPr/>
        <p:txBody>
          <a:bodyPr>
            <a:normAutofit lnSpcReduction="10000"/>
          </a:bodyPr>
          <a:lstStyle/>
          <a:p>
            <a:r>
              <a:rPr lang="en-US" dirty="0"/>
              <a:t>Concentrated neighborhood poverty has negative effects on labor market, education, and health outcomes of residents (</a:t>
            </a:r>
            <a:r>
              <a:rPr lang="en-US" dirty="0" err="1"/>
              <a:t>Chyn</a:t>
            </a:r>
            <a:r>
              <a:rPr lang="en-US" dirty="0"/>
              <a:t> and Katz 2021)</a:t>
            </a:r>
          </a:p>
          <a:p>
            <a:endParaRPr lang="en-US" dirty="0"/>
          </a:p>
          <a:p>
            <a:r>
              <a:rPr lang="en-US" dirty="0"/>
              <a:t>While we’d like to get rid of high poverty neighborhoods, we’re limited by a poor understanding of the dynamics—migration, income changes—that generate them and make them persistent </a:t>
            </a:r>
          </a:p>
          <a:p>
            <a:endParaRPr lang="en-US" dirty="0"/>
          </a:p>
          <a:p>
            <a:r>
              <a:rPr lang="en-US" dirty="0"/>
              <a:t>It could be a static story—poor people stay poor and stay put.  Fits with idea of household poverty traps, intergenerational persistence (e.g. </a:t>
            </a:r>
            <a:r>
              <a:rPr lang="en-US" dirty="0" err="1"/>
              <a:t>Durlauf</a:t>
            </a:r>
            <a:r>
              <a:rPr lang="en-US" dirty="0"/>
              <a:t> 1996)</a:t>
            </a:r>
          </a:p>
          <a:p>
            <a:endParaRPr lang="en-US" dirty="0"/>
          </a:p>
          <a:p>
            <a:r>
              <a:rPr lang="en-US" dirty="0"/>
              <a:t>But also evidence in other direction: poverty spells tend to be short (Bane and Ellwood 1986) and migration across </a:t>
            </a:r>
            <a:r>
              <a:rPr lang="en-US" dirty="0" err="1"/>
              <a:t>nbhd</a:t>
            </a:r>
            <a:r>
              <a:rPr lang="en-US" dirty="0"/>
              <a:t> types is large (</a:t>
            </a:r>
            <a:r>
              <a:rPr lang="en-US" dirty="0" err="1"/>
              <a:t>Quillian</a:t>
            </a:r>
            <a:r>
              <a:rPr lang="en-US" dirty="0"/>
              <a:t> 2004, Massey et al. 1994)</a:t>
            </a:r>
          </a:p>
        </p:txBody>
      </p:sp>
    </p:spTree>
    <p:extLst>
      <p:ext uri="{BB962C8B-B14F-4D97-AF65-F5344CB8AC3E}">
        <p14:creationId xmlns:p14="http://schemas.microsoft.com/office/powerpoint/2010/main" val="190053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0D32-B086-4FE3-98B2-ABAE532CB5F4}"/>
              </a:ext>
            </a:extLst>
          </p:cNvPr>
          <p:cNvSpPr>
            <a:spLocks noGrp="1"/>
          </p:cNvSpPr>
          <p:nvPr>
            <p:ph type="title"/>
          </p:nvPr>
        </p:nvSpPr>
        <p:spPr/>
        <p:txBody>
          <a:bodyPr/>
          <a:lstStyle/>
          <a:p>
            <a:r>
              <a:rPr lang="en-US" dirty="0"/>
              <a:t>This paper: break out the migration and income churn underlying concentrated poverty</a:t>
            </a:r>
          </a:p>
        </p:txBody>
      </p:sp>
      <p:sp>
        <p:nvSpPr>
          <p:cNvPr id="3" name="Content Placeholder 2">
            <a:extLst>
              <a:ext uri="{FF2B5EF4-FFF2-40B4-BE49-F238E27FC236}">
                <a16:creationId xmlns:a16="http://schemas.microsoft.com/office/drawing/2014/main" id="{6BAC9630-A924-4A3F-A56D-9E18FC9E4EC7}"/>
              </a:ext>
            </a:extLst>
          </p:cNvPr>
          <p:cNvSpPr>
            <a:spLocks noGrp="1"/>
          </p:cNvSpPr>
          <p:nvPr>
            <p:ph idx="1"/>
          </p:nvPr>
        </p:nvSpPr>
        <p:spPr/>
        <p:txBody>
          <a:bodyPr>
            <a:normAutofit lnSpcReduction="10000"/>
          </a:bodyPr>
          <a:lstStyle/>
          <a:p>
            <a:r>
              <a:rPr lang="en-US" dirty="0"/>
              <a:t>We use new data to illustrate how concentrated poverty results from a dynamic process</a:t>
            </a:r>
          </a:p>
          <a:p>
            <a:pPr lvl="1"/>
            <a:r>
              <a:rPr lang="en-US" dirty="0"/>
              <a:t>Individuals frequently see income changes, even in very poor neighborhoods</a:t>
            </a:r>
          </a:p>
          <a:p>
            <a:pPr lvl="1"/>
            <a:r>
              <a:rPr lang="en-US" dirty="0"/>
              <a:t>But they tend to move to a richer neighborhood when their income goes up (and vice versa)</a:t>
            </a:r>
          </a:p>
          <a:p>
            <a:pPr lvl="1"/>
            <a:r>
              <a:rPr lang="en-US" dirty="0"/>
              <a:t>This means that high-poverty neighborhoods attract poor migrants from elsewhere and lose their residents who see income improvements</a:t>
            </a:r>
          </a:p>
          <a:p>
            <a:endParaRPr lang="en-US" dirty="0"/>
          </a:p>
          <a:p>
            <a:r>
              <a:rPr lang="en-US" dirty="0"/>
              <a:t>We argue that this is a fundamental feature of high-poverty neighborhoods that makes them resistant to both policy interventions and macroeconomic changes</a:t>
            </a:r>
          </a:p>
          <a:p>
            <a:endParaRPr lang="en-US" dirty="0"/>
          </a:p>
          <a:p>
            <a:r>
              <a:rPr lang="en-US" dirty="0"/>
              <a:t>We then consider how this churn affects place-based policy outcomes and how to better design these policies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51001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0D32-B086-4FE3-98B2-ABAE532CB5F4}"/>
              </a:ext>
            </a:extLst>
          </p:cNvPr>
          <p:cNvSpPr>
            <a:spLocks noGrp="1"/>
          </p:cNvSpPr>
          <p:nvPr>
            <p:ph type="title"/>
          </p:nvPr>
        </p:nvSpPr>
        <p:spPr>
          <a:xfrm>
            <a:off x="838200" y="327418"/>
            <a:ext cx="10515600" cy="1325563"/>
          </a:xfrm>
        </p:spPr>
        <p:txBody>
          <a:bodyPr/>
          <a:lstStyle/>
          <a:p>
            <a:r>
              <a:rPr lang="en-US" dirty="0"/>
              <a:t>(Preliminary) results preview 1 of 2—Basic statistics</a:t>
            </a:r>
          </a:p>
        </p:txBody>
      </p:sp>
      <p:sp>
        <p:nvSpPr>
          <p:cNvPr id="3" name="Content Placeholder 2">
            <a:extLst>
              <a:ext uri="{FF2B5EF4-FFF2-40B4-BE49-F238E27FC236}">
                <a16:creationId xmlns:a16="http://schemas.microsoft.com/office/drawing/2014/main" id="{6BAC9630-A924-4A3F-A56D-9E18FC9E4EC7}"/>
              </a:ext>
            </a:extLst>
          </p:cNvPr>
          <p:cNvSpPr>
            <a:spLocks noGrp="1"/>
          </p:cNvSpPr>
          <p:nvPr>
            <p:ph idx="1"/>
          </p:nvPr>
        </p:nvSpPr>
        <p:spPr/>
        <p:txBody>
          <a:bodyPr>
            <a:normAutofit lnSpcReduction="10000"/>
          </a:bodyPr>
          <a:lstStyle/>
          <a:p>
            <a:r>
              <a:rPr lang="en-US" dirty="0"/>
              <a:t>There is significant migration across neighborhoods of different types</a:t>
            </a:r>
          </a:p>
          <a:p>
            <a:pPr lvl="1"/>
            <a:r>
              <a:rPr lang="en-US" dirty="0"/>
              <a:t>XX% of people residing in high (&gt;30%) poverty neighborhoods in year t lived in a neighborhood with poverty below 20% in year t-3</a:t>
            </a:r>
          </a:p>
          <a:p>
            <a:pPr lvl="1"/>
            <a:endParaRPr lang="en-US" dirty="0"/>
          </a:p>
          <a:p>
            <a:r>
              <a:rPr lang="en-US" dirty="0"/>
              <a:t>There is also significant income growth even for households in high-poverty </a:t>
            </a:r>
            <a:r>
              <a:rPr lang="en-US" dirty="0" err="1"/>
              <a:t>nbhds</a:t>
            </a:r>
            <a:endParaRPr lang="en-US" dirty="0"/>
          </a:p>
          <a:p>
            <a:pPr lvl="1"/>
            <a:r>
              <a:rPr lang="en-US" dirty="0"/>
              <a:t>For people living in high-poverty in year t, median change in income between year t and year t+3 is XX%.  This is much higher than the growth in average income of the neighborhoods</a:t>
            </a:r>
          </a:p>
          <a:p>
            <a:endParaRPr lang="en-US" dirty="0"/>
          </a:p>
          <a:p>
            <a:r>
              <a:rPr lang="en-US" dirty="0"/>
              <a:t>However, the migration is highly selective.  People who see different income changes make different migration decisions </a:t>
            </a:r>
          </a:p>
          <a:p>
            <a:pPr lvl="1"/>
            <a:r>
              <a:rPr lang="en-US" dirty="0"/>
              <a:t>Among people who lived in high-poverty </a:t>
            </a:r>
            <a:r>
              <a:rPr lang="en-US" dirty="0" err="1"/>
              <a:t>nbhd</a:t>
            </a:r>
            <a:r>
              <a:rPr lang="en-US" dirty="0"/>
              <a:t> in year t, those who made &gt;$40,000 in year t+1 had a XX% chance of exiting high poverty, versus YY% for &lt;$40,000 </a:t>
            </a:r>
          </a:p>
        </p:txBody>
      </p:sp>
    </p:spTree>
    <p:extLst>
      <p:ext uri="{BB962C8B-B14F-4D97-AF65-F5344CB8AC3E}">
        <p14:creationId xmlns:p14="http://schemas.microsoft.com/office/powerpoint/2010/main" val="142179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0D32-B086-4FE3-98B2-ABAE532CB5F4}"/>
              </a:ext>
            </a:extLst>
          </p:cNvPr>
          <p:cNvSpPr>
            <a:spLocks noGrp="1"/>
          </p:cNvSpPr>
          <p:nvPr>
            <p:ph type="title"/>
          </p:nvPr>
        </p:nvSpPr>
        <p:spPr/>
        <p:txBody>
          <a:bodyPr/>
          <a:lstStyle/>
          <a:p>
            <a:r>
              <a:rPr lang="en-US" dirty="0"/>
              <a:t>(Preliminary) results preview 2 of 2—Model</a:t>
            </a:r>
          </a:p>
        </p:txBody>
      </p:sp>
      <p:sp>
        <p:nvSpPr>
          <p:cNvPr id="3" name="Content Placeholder 2">
            <a:extLst>
              <a:ext uri="{FF2B5EF4-FFF2-40B4-BE49-F238E27FC236}">
                <a16:creationId xmlns:a16="http://schemas.microsoft.com/office/drawing/2014/main" id="{6BAC9630-A924-4A3F-A56D-9E18FC9E4EC7}"/>
              </a:ext>
            </a:extLst>
          </p:cNvPr>
          <p:cNvSpPr>
            <a:spLocks noGrp="1"/>
          </p:cNvSpPr>
          <p:nvPr>
            <p:ph idx="1"/>
          </p:nvPr>
        </p:nvSpPr>
        <p:spPr/>
        <p:txBody>
          <a:bodyPr>
            <a:normAutofit lnSpcReduction="10000"/>
          </a:bodyPr>
          <a:lstStyle/>
          <a:p>
            <a:r>
              <a:rPr lang="en-US" dirty="0"/>
              <a:t>We build a mechanical model to illustrate how dynamics affect evolution of </a:t>
            </a:r>
            <a:r>
              <a:rPr lang="en-US" dirty="0" err="1"/>
              <a:t>nbhds</a:t>
            </a:r>
            <a:r>
              <a:rPr lang="en-US" dirty="0"/>
              <a:t>.</a:t>
            </a:r>
          </a:p>
          <a:p>
            <a:pPr lvl="1"/>
            <a:r>
              <a:rPr lang="en-US" dirty="0"/>
              <a:t>Calibrate income process and neighborhood choices based on data</a:t>
            </a:r>
          </a:p>
          <a:p>
            <a:pPr lvl="1"/>
            <a:r>
              <a:rPr lang="en-US" dirty="0"/>
              <a:t>Simulate neighborhood characteristics over time</a:t>
            </a:r>
          </a:p>
          <a:p>
            <a:endParaRPr lang="en-US" dirty="0"/>
          </a:p>
          <a:p>
            <a:r>
              <a:rPr lang="en-US" dirty="0"/>
              <a:t>Examine how tweaks to income process/migration affect neighborhoods</a:t>
            </a:r>
          </a:p>
          <a:p>
            <a:pPr lvl="1"/>
            <a:r>
              <a:rPr lang="en-US" dirty="0"/>
              <a:t>Find that small changes to either can generate large effects on neighborhoods—suggests that both are key factors in creating/preserving concentrated poverty</a:t>
            </a:r>
          </a:p>
          <a:p>
            <a:pPr lvl="1"/>
            <a:endParaRPr lang="en-US" dirty="0"/>
          </a:p>
          <a:p>
            <a:r>
              <a:rPr lang="en-US" dirty="0"/>
              <a:t>Simulate “place-based” policies targeting high-poverty neighborhoods</a:t>
            </a:r>
          </a:p>
          <a:p>
            <a:pPr lvl="1"/>
            <a:r>
              <a:rPr lang="en-US" dirty="0"/>
              <a:t>Selective migration changes the neighborhood effect of PBP that successfully boost income</a:t>
            </a:r>
          </a:p>
          <a:p>
            <a:pPr lvl="1"/>
            <a:r>
              <a:rPr lang="en-US" dirty="0"/>
              <a:t>Policies can be equally effective by boosting income or by improving retention of “naturally occurring” income improvements</a:t>
            </a:r>
          </a:p>
        </p:txBody>
      </p:sp>
    </p:spTree>
    <p:extLst>
      <p:ext uri="{BB962C8B-B14F-4D97-AF65-F5344CB8AC3E}">
        <p14:creationId xmlns:p14="http://schemas.microsoft.com/office/powerpoint/2010/main" val="3214705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Related literature and contribution</a:t>
            </a:r>
          </a:p>
        </p:txBody>
      </p:sp>
      <p:sp>
        <p:nvSpPr>
          <p:cNvPr id="5" name="Content Placeholder 4">
            <a:extLst>
              <a:ext uri="{FF2B5EF4-FFF2-40B4-BE49-F238E27FC236}">
                <a16:creationId xmlns:a16="http://schemas.microsoft.com/office/drawing/2014/main" id="{7458E0B7-394E-466D-A15E-0CE6B9F64C4C}"/>
              </a:ext>
            </a:extLst>
          </p:cNvPr>
          <p:cNvSpPr>
            <a:spLocks noGrp="1"/>
          </p:cNvSpPr>
          <p:nvPr>
            <p:ph idx="1"/>
          </p:nvPr>
        </p:nvSpPr>
        <p:spPr/>
        <p:txBody>
          <a:bodyPr>
            <a:normAutofit/>
          </a:bodyPr>
          <a:lstStyle/>
          <a:p>
            <a:r>
              <a:rPr lang="en-US" dirty="0"/>
              <a:t>Past literature uses PSID to study household income change (Bane and Ellwood 1986, Stevens 1994) and migration (Massey et al. 1994, </a:t>
            </a:r>
            <a:r>
              <a:rPr lang="en-US" dirty="0" err="1"/>
              <a:t>Quillian</a:t>
            </a:r>
            <a:r>
              <a:rPr lang="en-US" dirty="0"/>
              <a:t> 2004)</a:t>
            </a:r>
          </a:p>
          <a:p>
            <a:pPr lvl="1"/>
            <a:r>
              <a:rPr lang="en-US" dirty="0"/>
              <a:t>We first update their results with larger sample, more granularity</a:t>
            </a:r>
          </a:p>
          <a:p>
            <a:pPr lvl="1"/>
            <a:r>
              <a:rPr lang="en-US" dirty="0"/>
              <a:t>We then put together these patterns to show how they matter for neighborhoods</a:t>
            </a:r>
          </a:p>
          <a:p>
            <a:pPr lvl="1"/>
            <a:endParaRPr lang="en-US" dirty="0"/>
          </a:p>
          <a:p>
            <a:r>
              <a:rPr lang="en-US" dirty="0"/>
              <a:t>Many papers evaluate policy attempts to address CP (e.g. </a:t>
            </a:r>
            <a:r>
              <a:rPr lang="en-US" dirty="0" err="1"/>
              <a:t>Busso</a:t>
            </a:r>
            <a:r>
              <a:rPr lang="en-US" dirty="0"/>
              <a:t> et al. 2013)  </a:t>
            </a:r>
          </a:p>
          <a:p>
            <a:pPr lvl="1"/>
            <a:r>
              <a:rPr lang="en-US" dirty="0"/>
              <a:t>We provide new evidence on mechanisms that moderate/generate the effect of PBPs</a:t>
            </a:r>
          </a:p>
          <a:p>
            <a:pPr lvl="1"/>
            <a:endParaRPr lang="en-US" dirty="0"/>
          </a:p>
          <a:p>
            <a:r>
              <a:rPr lang="en-US" dirty="0"/>
              <a:t>Recent surge of interest in neighborhood effects (Kling et al. 2013, Chetty, Hendren, and Katz 2016, </a:t>
            </a:r>
            <a:r>
              <a:rPr lang="en-US" dirty="0" err="1"/>
              <a:t>Chyn</a:t>
            </a:r>
            <a:r>
              <a:rPr lang="en-US" dirty="0"/>
              <a:t> 2018) </a:t>
            </a:r>
          </a:p>
          <a:p>
            <a:pPr lvl="1"/>
            <a:r>
              <a:rPr lang="en-US" dirty="0"/>
              <a:t>We provide some insight on how high-poverty </a:t>
            </a:r>
            <a:r>
              <a:rPr lang="en-US" dirty="0" err="1"/>
              <a:t>nbhds</a:t>
            </a:r>
            <a:r>
              <a:rPr lang="en-US" dirty="0"/>
              <a:t> are formed/preserved</a:t>
            </a:r>
          </a:p>
          <a:p>
            <a:pPr marL="0" indent="0">
              <a:buNone/>
            </a:pPr>
            <a:endParaRPr lang="en-US" dirty="0"/>
          </a:p>
          <a:p>
            <a:endParaRPr lang="en-US" dirty="0"/>
          </a:p>
        </p:txBody>
      </p:sp>
    </p:spTree>
    <p:extLst>
      <p:ext uri="{BB962C8B-B14F-4D97-AF65-F5344CB8AC3E}">
        <p14:creationId xmlns:p14="http://schemas.microsoft.com/office/powerpoint/2010/main" val="2686451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D851-D505-42F0-812C-3DFB60A1245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E99A0FD-234E-474D-B6FD-ED1600E32103}"/>
              </a:ext>
            </a:extLst>
          </p:cNvPr>
          <p:cNvSpPr>
            <a:spLocks noGrp="1"/>
          </p:cNvSpPr>
          <p:nvPr>
            <p:ph idx="1"/>
          </p:nvPr>
        </p:nvSpPr>
        <p:spPr/>
        <p:txBody>
          <a:bodyPr/>
          <a:lstStyle/>
          <a:p>
            <a:pPr marL="457200" indent="-457200">
              <a:buFont typeface="+mj-lt"/>
              <a:buAutoNum type="arabicPeriod"/>
            </a:pPr>
            <a:r>
              <a:rPr lang="en-US" dirty="0"/>
              <a:t>Data and descriptive statistics</a:t>
            </a:r>
          </a:p>
          <a:p>
            <a:pPr marL="457200" indent="-457200">
              <a:buFont typeface="+mj-lt"/>
              <a:buAutoNum type="arabicPeriod"/>
            </a:pPr>
            <a:r>
              <a:rPr lang="en-US" dirty="0"/>
              <a:t>Statistics on income and migration dynamics</a:t>
            </a:r>
          </a:p>
          <a:p>
            <a:pPr marL="457200" indent="-457200">
              <a:buFont typeface="+mj-lt"/>
              <a:buAutoNum type="arabicPeriod"/>
            </a:pPr>
            <a:r>
              <a:rPr lang="en-US" dirty="0"/>
              <a:t>Statistics on selective migration</a:t>
            </a:r>
          </a:p>
          <a:p>
            <a:pPr marL="457200" indent="-457200">
              <a:buFont typeface="+mj-lt"/>
              <a:buAutoNum type="arabicPeriod"/>
            </a:pPr>
            <a:r>
              <a:rPr lang="en-US" dirty="0"/>
              <a:t>Model set-up and calibration</a:t>
            </a:r>
          </a:p>
          <a:p>
            <a:pPr marL="457200" indent="-457200">
              <a:buFont typeface="+mj-lt"/>
              <a:buAutoNum type="arabicPeriod"/>
            </a:pPr>
            <a:r>
              <a:rPr lang="en-US" dirty="0"/>
              <a:t>Model results</a:t>
            </a:r>
          </a:p>
        </p:txBody>
      </p:sp>
    </p:spTree>
    <p:extLst>
      <p:ext uri="{BB962C8B-B14F-4D97-AF65-F5344CB8AC3E}">
        <p14:creationId xmlns:p14="http://schemas.microsoft.com/office/powerpoint/2010/main" val="1276776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1DD3-29C8-410D-91BE-9821B0DC02C0}"/>
              </a:ext>
            </a:extLst>
          </p:cNvPr>
          <p:cNvSpPr>
            <a:spLocks noGrp="1"/>
          </p:cNvSpPr>
          <p:nvPr>
            <p:ph type="title"/>
          </p:nvPr>
        </p:nvSpPr>
        <p:spPr>
          <a:xfrm>
            <a:off x="838199" y="365125"/>
            <a:ext cx="10869891" cy="1576797"/>
          </a:xfrm>
        </p:spPr>
        <p:txBody>
          <a:bodyPr>
            <a:noAutofit/>
          </a:bodyPr>
          <a:lstStyle/>
          <a:p>
            <a:r>
              <a:rPr lang="en-US" dirty="0"/>
              <a:t>Combine several restricted files from U.S. Census Bureau</a:t>
            </a:r>
          </a:p>
        </p:txBody>
      </p:sp>
      <p:sp>
        <p:nvSpPr>
          <p:cNvPr id="3" name="Content Placeholder 2">
            <a:extLst>
              <a:ext uri="{FF2B5EF4-FFF2-40B4-BE49-F238E27FC236}">
                <a16:creationId xmlns:a16="http://schemas.microsoft.com/office/drawing/2014/main" id="{699630B4-5737-466C-8786-65ECFA0B48AC}"/>
              </a:ext>
            </a:extLst>
          </p:cNvPr>
          <p:cNvSpPr>
            <a:spLocks noGrp="1"/>
          </p:cNvSpPr>
          <p:nvPr>
            <p:ph idx="1"/>
          </p:nvPr>
        </p:nvSpPr>
        <p:spPr/>
        <p:txBody>
          <a:bodyPr>
            <a:normAutofit/>
          </a:bodyPr>
          <a:lstStyle/>
          <a:p>
            <a:r>
              <a:rPr lang="en-US" dirty="0"/>
              <a:t>Starting point: MAFARF provides 2000-2019 address history for close to 100% sample</a:t>
            </a:r>
          </a:p>
          <a:p>
            <a:pPr lvl="1"/>
            <a:r>
              <a:rPr lang="en-US" dirty="0"/>
              <a:t> Draws from tax, health, and housing data from federal agency records</a:t>
            </a:r>
          </a:p>
          <a:p>
            <a:r>
              <a:rPr lang="en-US" dirty="0"/>
              <a:t>Add responses to the 2000 and 2010 decennial censuses</a:t>
            </a:r>
          </a:p>
          <a:p>
            <a:pPr lvl="1"/>
            <a:r>
              <a:rPr lang="en-US" dirty="0"/>
              <a:t>100% samples with age, sex, family type, race/ethnicity, and rent/own housing</a:t>
            </a:r>
          </a:p>
          <a:p>
            <a:pPr lvl="1"/>
            <a:r>
              <a:rPr lang="en-US" dirty="0"/>
              <a:t>2000 Census long-form—information on education and earnings for a 16% sample </a:t>
            </a:r>
          </a:p>
          <a:p>
            <a:r>
              <a:rPr lang="en-US" dirty="0"/>
              <a:t>Link to all waves of the American Community Survey (ACS) from 2005 to 2019.  </a:t>
            </a:r>
          </a:p>
          <a:p>
            <a:pPr lvl="1"/>
            <a:r>
              <a:rPr lang="en-US" dirty="0"/>
              <a:t>Demographic info for a 2% sample. </a:t>
            </a:r>
          </a:p>
          <a:p>
            <a:pPr lvl="1"/>
            <a:endParaRPr lang="en-US" dirty="0"/>
          </a:p>
          <a:p>
            <a:r>
              <a:rPr lang="en-US" dirty="0"/>
              <a:t>In this paper, use this data to construct neighborhood characteristics that are not in standard Census products and to observe individual migration</a:t>
            </a:r>
          </a:p>
          <a:p>
            <a:endParaRPr lang="en-US" dirty="0"/>
          </a:p>
          <a:p>
            <a:pPr marL="0" indent="0">
              <a:buNone/>
            </a:pPr>
            <a:endParaRPr lang="en-US" sz="2000" dirty="0"/>
          </a:p>
        </p:txBody>
      </p:sp>
    </p:spTree>
    <p:extLst>
      <p:ext uri="{BB962C8B-B14F-4D97-AF65-F5344CB8AC3E}">
        <p14:creationId xmlns:p14="http://schemas.microsoft.com/office/powerpoint/2010/main" val="3053665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1DD3-29C8-410D-91BE-9821B0DC02C0}"/>
              </a:ext>
            </a:extLst>
          </p:cNvPr>
          <p:cNvSpPr>
            <a:spLocks noGrp="1"/>
          </p:cNvSpPr>
          <p:nvPr>
            <p:ph type="title"/>
          </p:nvPr>
        </p:nvSpPr>
        <p:spPr>
          <a:xfrm>
            <a:off x="838199" y="365126"/>
            <a:ext cx="10869891" cy="586982"/>
          </a:xfrm>
        </p:spPr>
        <p:txBody>
          <a:bodyPr>
            <a:noAutofit/>
          </a:bodyPr>
          <a:lstStyle/>
          <a:p>
            <a:r>
              <a:rPr lang="en-US" dirty="0"/>
              <a:t>Motivating fact: concentrated poverty is very persistent</a:t>
            </a:r>
          </a:p>
        </p:txBody>
      </p:sp>
      <p:sp>
        <p:nvSpPr>
          <p:cNvPr id="3" name="Content Placeholder 2">
            <a:extLst>
              <a:ext uri="{FF2B5EF4-FFF2-40B4-BE49-F238E27FC236}">
                <a16:creationId xmlns:a16="http://schemas.microsoft.com/office/drawing/2014/main" id="{699630B4-5737-466C-8786-65ECFA0B48AC}"/>
              </a:ext>
            </a:extLst>
          </p:cNvPr>
          <p:cNvSpPr>
            <a:spLocks noGrp="1"/>
          </p:cNvSpPr>
          <p:nvPr>
            <p:ph idx="1"/>
          </p:nvPr>
        </p:nvSpPr>
        <p:spPr>
          <a:xfrm>
            <a:off x="8377681" y="952108"/>
            <a:ext cx="3180761" cy="5224855"/>
          </a:xfrm>
        </p:spPr>
        <p:txBody>
          <a:bodyPr>
            <a:normAutofit/>
          </a:bodyPr>
          <a:lstStyle/>
          <a:p>
            <a:r>
              <a:rPr lang="en-US" dirty="0"/>
              <a:t>Sample note: this just includes 40 largest metros </a:t>
            </a:r>
          </a:p>
          <a:p>
            <a:endParaRPr lang="en-US" dirty="0"/>
          </a:p>
          <a:p>
            <a:r>
              <a:rPr lang="en-US" dirty="0"/>
              <a:t>Note that this spans large macroeconomic fluctuations and shifts, as well as numerous local, state, and federal policies that target concentrated poverty either directly or indirectly</a:t>
            </a:r>
          </a:p>
        </p:txBody>
      </p:sp>
      <p:pic>
        <p:nvPicPr>
          <p:cNvPr id="7" name="Picture 6">
            <a:extLst>
              <a:ext uri="{FF2B5EF4-FFF2-40B4-BE49-F238E27FC236}">
                <a16:creationId xmlns:a16="http://schemas.microsoft.com/office/drawing/2014/main" id="{103EC3AC-E467-4E88-9AD6-868ACC2E45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135" y="952108"/>
            <a:ext cx="8074056" cy="5382704"/>
          </a:xfrm>
          <a:prstGeom prst="rect">
            <a:avLst/>
          </a:prstGeom>
        </p:spPr>
      </p:pic>
    </p:spTree>
    <p:extLst>
      <p:ext uri="{BB962C8B-B14F-4D97-AF65-F5344CB8AC3E}">
        <p14:creationId xmlns:p14="http://schemas.microsoft.com/office/powerpoint/2010/main" val="75392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D851-D505-42F0-812C-3DFB60A1245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E99A0FD-234E-474D-B6FD-ED1600E32103}"/>
              </a:ext>
            </a:extLst>
          </p:cNvPr>
          <p:cNvSpPr>
            <a:spLocks noGrp="1"/>
          </p:cNvSpPr>
          <p:nvPr>
            <p:ph idx="1"/>
          </p:nvPr>
        </p:nvSpPr>
        <p:spPr/>
        <p:txBody>
          <a:bodyPr/>
          <a:lstStyle/>
          <a:p>
            <a:pPr marL="457200" indent="-457200">
              <a:buFont typeface="+mj-lt"/>
              <a:buAutoNum type="arabicPeriod"/>
            </a:pPr>
            <a:r>
              <a:rPr lang="en-US" dirty="0"/>
              <a:t>Data</a:t>
            </a:r>
          </a:p>
          <a:p>
            <a:pPr marL="457200" indent="-457200">
              <a:buFont typeface="+mj-lt"/>
              <a:buAutoNum type="arabicPeriod"/>
            </a:pPr>
            <a:r>
              <a:rPr lang="en-US" dirty="0"/>
              <a:t>Statistics on income and migration dynamics</a:t>
            </a:r>
          </a:p>
          <a:p>
            <a:pPr marL="457200" indent="-457200">
              <a:buFont typeface="+mj-lt"/>
              <a:buAutoNum type="arabicPeriod"/>
            </a:pPr>
            <a:r>
              <a:rPr lang="en-US" dirty="0"/>
              <a:t>Statistics on selective migration</a:t>
            </a:r>
          </a:p>
          <a:p>
            <a:pPr marL="457200" indent="-457200">
              <a:buFont typeface="+mj-lt"/>
              <a:buAutoNum type="arabicPeriod"/>
            </a:pPr>
            <a:r>
              <a:rPr lang="en-US" dirty="0"/>
              <a:t>Model set-up and calibration</a:t>
            </a:r>
          </a:p>
          <a:p>
            <a:pPr marL="457200" indent="-457200">
              <a:buFont typeface="+mj-lt"/>
              <a:buAutoNum type="arabicPeriod"/>
            </a:pPr>
            <a:r>
              <a:rPr lang="en-US" dirty="0"/>
              <a:t>Model results</a:t>
            </a:r>
          </a:p>
        </p:txBody>
      </p:sp>
    </p:spTree>
    <p:extLst>
      <p:ext uri="{BB962C8B-B14F-4D97-AF65-F5344CB8AC3E}">
        <p14:creationId xmlns:p14="http://schemas.microsoft.com/office/powerpoint/2010/main" val="3634380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1097-D6E7-4F6A-9E04-D1059B11B9E8}"/>
              </a:ext>
            </a:extLst>
          </p:cNvPr>
          <p:cNvSpPr>
            <a:spLocks noGrp="1"/>
          </p:cNvSpPr>
          <p:nvPr>
            <p:ph type="title"/>
          </p:nvPr>
        </p:nvSpPr>
        <p:spPr/>
        <p:txBody>
          <a:bodyPr/>
          <a:lstStyle/>
          <a:p>
            <a:r>
              <a:rPr lang="en-US" dirty="0"/>
              <a:t>Fact 1: There is a lot of churn across different types of neighborhoods</a:t>
            </a:r>
          </a:p>
        </p:txBody>
      </p:sp>
      <p:sp>
        <p:nvSpPr>
          <p:cNvPr id="3" name="Content Placeholder 2">
            <a:extLst>
              <a:ext uri="{FF2B5EF4-FFF2-40B4-BE49-F238E27FC236}">
                <a16:creationId xmlns:a16="http://schemas.microsoft.com/office/drawing/2014/main" id="{57447305-76C6-4B2D-9B3C-05E612DBD75D}"/>
              </a:ext>
            </a:extLst>
          </p:cNvPr>
          <p:cNvSpPr>
            <a:spLocks noGrp="1"/>
          </p:cNvSpPr>
          <p:nvPr>
            <p:ph idx="1"/>
          </p:nvPr>
        </p:nvSpPr>
        <p:spPr/>
        <p:txBody>
          <a:bodyPr>
            <a:normAutofit/>
          </a:bodyPr>
          <a:lstStyle/>
          <a:p>
            <a:pPr marL="0" indent="0">
              <a:buNone/>
            </a:pPr>
            <a:r>
              <a:rPr lang="en-US" sz="2000" dirty="0"/>
              <a:t>Stacked area chart showing the share of residents that are incumbents/arrivals from various origins versus neighborhood poverty rate</a:t>
            </a:r>
          </a:p>
          <a:p>
            <a:pPr marL="0" indent="0">
              <a:buNone/>
            </a:pPr>
            <a:endParaRPr lang="en-US" sz="2000" dirty="0"/>
          </a:p>
          <a:p>
            <a:r>
              <a:rPr lang="en-US" sz="2000" dirty="0"/>
              <a:t>Interpretation: </a:t>
            </a:r>
          </a:p>
          <a:p>
            <a:pPr lvl="1"/>
            <a:r>
              <a:rPr lang="en-US" sz="2000" dirty="0"/>
              <a:t>Even very high poverty neighborhoods have a lot of people who recently lived in a less poor place</a:t>
            </a:r>
          </a:p>
          <a:p>
            <a:pPr lvl="1"/>
            <a:r>
              <a:rPr lang="en-US" sz="2000" dirty="0"/>
              <a:t>It’s inaccurate to think of poor neighborhoods as consisting of a static set of individuals.  You need to understand the in-flows and out-flows in order to understand how these neighborhoods end up with the average characteristics that they do.</a:t>
            </a:r>
          </a:p>
        </p:txBody>
      </p:sp>
    </p:spTree>
    <p:extLst>
      <p:ext uri="{BB962C8B-B14F-4D97-AF65-F5344CB8AC3E}">
        <p14:creationId xmlns:p14="http://schemas.microsoft.com/office/powerpoint/2010/main" val="4127912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1097-D6E7-4F6A-9E04-D1059B11B9E8}"/>
              </a:ext>
            </a:extLst>
          </p:cNvPr>
          <p:cNvSpPr>
            <a:spLocks noGrp="1"/>
          </p:cNvSpPr>
          <p:nvPr>
            <p:ph type="title"/>
          </p:nvPr>
        </p:nvSpPr>
        <p:spPr/>
        <p:txBody>
          <a:bodyPr/>
          <a:lstStyle/>
          <a:p>
            <a:r>
              <a:rPr lang="en-US" dirty="0"/>
              <a:t>Fact 2: Income is not stagnant (even in very poor </a:t>
            </a:r>
            <a:r>
              <a:rPr lang="en-US" dirty="0" err="1"/>
              <a:t>nbhds</a:t>
            </a:r>
            <a:r>
              <a:rPr lang="en-US" dirty="0"/>
              <a:t>)</a:t>
            </a:r>
          </a:p>
        </p:txBody>
      </p:sp>
      <p:sp>
        <p:nvSpPr>
          <p:cNvPr id="3" name="Content Placeholder 2">
            <a:extLst>
              <a:ext uri="{FF2B5EF4-FFF2-40B4-BE49-F238E27FC236}">
                <a16:creationId xmlns:a16="http://schemas.microsoft.com/office/drawing/2014/main" id="{57447305-76C6-4B2D-9B3C-05E612DBD75D}"/>
              </a:ext>
            </a:extLst>
          </p:cNvPr>
          <p:cNvSpPr>
            <a:spLocks noGrp="1"/>
          </p:cNvSpPr>
          <p:nvPr>
            <p:ph idx="1"/>
          </p:nvPr>
        </p:nvSpPr>
        <p:spPr/>
        <p:txBody>
          <a:bodyPr>
            <a:normAutofit/>
          </a:bodyPr>
          <a:lstStyle/>
          <a:p>
            <a:pPr marL="0" indent="0">
              <a:buNone/>
            </a:pPr>
            <a:r>
              <a:rPr lang="en-US" sz="2000" dirty="0"/>
              <a:t>Three-year change in income for initial residents of </a:t>
            </a:r>
            <a:r>
              <a:rPr lang="en-US" sz="2000" dirty="0" err="1"/>
              <a:t>nbhds</a:t>
            </a:r>
            <a:r>
              <a:rPr lang="en-US" sz="2000" dirty="0"/>
              <a:t> with diff </a:t>
            </a:r>
            <a:r>
              <a:rPr lang="en-US" sz="2000" dirty="0" err="1"/>
              <a:t>pov</a:t>
            </a:r>
            <a:r>
              <a:rPr lang="en-US" sz="2000" dirty="0"/>
              <a:t> bins</a:t>
            </a:r>
          </a:p>
          <a:p>
            <a:pPr marL="0" indent="0">
              <a:buNone/>
            </a:pPr>
            <a:endParaRPr lang="en-US" sz="2000" dirty="0"/>
          </a:p>
          <a:p>
            <a:r>
              <a:rPr lang="en-US" sz="2000" dirty="0"/>
              <a:t>Interpretation</a:t>
            </a:r>
          </a:p>
          <a:p>
            <a:pPr lvl="1"/>
            <a:r>
              <a:rPr lang="en-US" sz="2000" dirty="0"/>
              <a:t>Stagnant incomes cannot totally explain persistence of neighborhood characteristics.  People living in poor neighborhoods at any given point in time see future income growth on average.</a:t>
            </a:r>
          </a:p>
          <a:p>
            <a:pPr lvl="1"/>
            <a:r>
              <a:rPr lang="en-US" sz="2000" dirty="0"/>
              <a:t>Not claiming that this would lead to rapid improvement—but it would be something instead of the nothing that we currently see.  And there could be feedback effects that reinforce that small growth</a:t>
            </a:r>
          </a:p>
          <a:p>
            <a:pPr lvl="1"/>
            <a:endParaRPr lang="en-US" sz="2000" dirty="0"/>
          </a:p>
          <a:p>
            <a:pPr marL="0" indent="0">
              <a:buNone/>
            </a:pPr>
            <a:endParaRPr lang="en-US" sz="2000" dirty="0"/>
          </a:p>
        </p:txBody>
      </p:sp>
    </p:spTree>
    <p:extLst>
      <p:ext uri="{BB962C8B-B14F-4D97-AF65-F5344CB8AC3E}">
        <p14:creationId xmlns:p14="http://schemas.microsoft.com/office/powerpoint/2010/main" val="498130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D851-D505-42F0-812C-3DFB60A1245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E99A0FD-234E-474D-B6FD-ED1600E32103}"/>
              </a:ext>
            </a:extLst>
          </p:cNvPr>
          <p:cNvSpPr>
            <a:spLocks noGrp="1"/>
          </p:cNvSpPr>
          <p:nvPr>
            <p:ph idx="1"/>
          </p:nvPr>
        </p:nvSpPr>
        <p:spPr/>
        <p:txBody>
          <a:bodyPr/>
          <a:lstStyle/>
          <a:p>
            <a:pPr marL="457200" indent="-457200">
              <a:buFont typeface="+mj-lt"/>
              <a:buAutoNum type="arabicPeriod"/>
            </a:pPr>
            <a:r>
              <a:rPr lang="en-US" dirty="0"/>
              <a:t>Data</a:t>
            </a:r>
          </a:p>
          <a:p>
            <a:pPr marL="457200" indent="-457200">
              <a:buFont typeface="+mj-lt"/>
              <a:buAutoNum type="arabicPeriod"/>
            </a:pPr>
            <a:r>
              <a:rPr lang="en-US" dirty="0"/>
              <a:t>Statistics on income and migration dynamics</a:t>
            </a:r>
          </a:p>
          <a:p>
            <a:pPr marL="457200" indent="-457200">
              <a:buFont typeface="+mj-lt"/>
              <a:buAutoNum type="arabicPeriod"/>
            </a:pPr>
            <a:r>
              <a:rPr lang="en-US" dirty="0"/>
              <a:t>Statistics on selective migration</a:t>
            </a:r>
          </a:p>
          <a:p>
            <a:pPr marL="457200" indent="-457200">
              <a:buFont typeface="+mj-lt"/>
              <a:buAutoNum type="arabicPeriod"/>
            </a:pPr>
            <a:r>
              <a:rPr lang="en-US" dirty="0"/>
              <a:t>Model set-up and calibration</a:t>
            </a:r>
          </a:p>
          <a:p>
            <a:pPr marL="457200" indent="-457200">
              <a:buFont typeface="+mj-lt"/>
              <a:buAutoNum type="arabicPeriod"/>
            </a:pPr>
            <a:r>
              <a:rPr lang="en-US" dirty="0"/>
              <a:t>Model results</a:t>
            </a:r>
          </a:p>
        </p:txBody>
      </p:sp>
    </p:spTree>
    <p:extLst>
      <p:ext uri="{BB962C8B-B14F-4D97-AF65-F5344CB8AC3E}">
        <p14:creationId xmlns:p14="http://schemas.microsoft.com/office/powerpoint/2010/main" val="2943936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1097-D6E7-4F6A-9E04-D1059B11B9E8}"/>
              </a:ext>
            </a:extLst>
          </p:cNvPr>
          <p:cNvSpPr>
            <a:spLocks noGrp="1"/>
          </p:cNvSpPr>
          <p:nvPr>
            <p:ph type="title"/>
          </p:nvPr>
        </p:nvSpPr>
        <p:spPr/>
        <p:txBody>
          <a:bodyPr/>
          <a:lstStyle/>
          <a:p>
            <a:r>
              <a:rPr lang="en-US" dirty="0"/>
              <a:t>Fact 3: People moving up the neighborhood ladder have higher income than people moving down</a:t>
            </a:r>
          </a:p>
        </p:txBody>
      </p:sp>
      <p:sp>
        <p:nvSpPr>
          <p:cNvPr id="3" name="Content Placeholder 2">
            <a:extLst>
              <a:ext uri="{FF2B5EF4-FFF2-40B4-BE49-F238E27FC236}">
                <a16:creationId xmlns:a16="http://schemas.microsoft.com/office/drawing/2014/main" id="{57447305-76C6-4B2D-9B3C-05E612DBD75D}"/>
              </a:ext>
            </a:extLst>
          </p:cNvPr>
          <p:cNvSpPr>
            <a:spLocks noGrp="1"/>
          </p:cNvSpPr>
          <p:nvPr>
            <p:ph idx="1"/>
          </p:nvPr>
        </p:nvSpPr>
        <p:spPr/>
        <p:txBody>
          <a:bodyPr>
            <a:normAutofit/>
          </a:bodyPr>
          <a:lstStyle/>
          <a:p>
            <a:pPr marL="0" indent="0">
              <a:buNone/>
            </a:pPr>
            <a:r>
              <a:rPr lang="en-US" sz="2000" dirty="0"/>
              <a:t>Median income of people making different transitions</a:t>
            </a:r>
          </a:p>
          <a:p>
            <a:pPr marL="0" indent="0">
              <a:buNone/>
            </a:pPr>
            <a:endParaRPr lang="en-US" sz="2000" dirty="0"/>
          </a:p>
          <a:p>
            <a:r>
              <a:rPr lang="en-US" sz="2000" dirty="0"/>
              <a:t>Interpretation: </a:t>
            </a:r>
          </a:p>
          <a:p>
            <a:pPr lvl="1"/>
            <a:r>
              <a:rPr lang="en-US" sz="2000" dirty="0"/>
              <a:t>The successes move away, and they’re replaced by people who are in a downturn.  This is going to tend to keep poor neighborhoods poor, even if things improve for some of their initial residents</a:t>
            </a:r>
          </a:p>
          <a:p>
            <a:pPr lvl="1"/>
            <a:endParaRPr lang="en-US" sz="2000" dirty="0"/>
          </a:p>
        </p:txBody>
      </p:sp>
    </p:spTree>
    <p:extLst>
      <p:ext uri="{BB962C8B-B14F-4D97-AF65-F5344CB8AC3E}">
        <p14:creationId xmlns:p14="http://schemas.microsoft.com/office/powerpoint/2010/main" val="407666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1097-D6E7-4F6A-9E04-D1059B11B9E8}"/>
              </a:ext>
            </a:extLst>
          </p:cNvPr>
          <p:cNvSpPr>
            <a:spLocks noGrp="1"/>
          </p:cNvSpPr>
          <p:nvPr>
            <p:ph type="title"/>
          </p:nvPr>
        </p:nvSpPr>
        <p:spPr/>
        <p:txBody>
          <a:bodyPr/>
          <a:lstStyle/>
          <a:p>
            <a:r>
              <a:rPr lang="en-US" dirty="0"/>
              <a:t>Alternative way to show this: neighborhood transitions conditional on income</a:t>
            </a:r>
          </a:p>
        </p:txBody>
      </p:sp>
      <p:sp>
        <p:nvSpPr>
          <p:cNvPr id="3" name="Content Placeholder 2">
            <a:extLst>
              <a:ext uri="{FF2B5EF4-FFF2-40B4-BE49-F238E27FC236}">
                <a16:creationId xmlns:a16="http://schemas.microsoft.com/office/drawing/2014/main" id="{57447305-76C6-4B2D-9B3C-05E612DBD75D}"/>
              </a:ext>
            </a:extLst>
          </p:cNvPr>
          <p:cNvSpPr>
            <a:spLocks noGrp="1"/>
          </p:cNvSpPr>
          <p:nvPr>
            <p:ph idx="1"/>
          </p:nvPr>
        </p:nvSpPr>
        <p:spPr/>
        <p:txBody>
          <a:bodyPr>
            <a:normAutofit/>
          </a:bodyPr>
          <a:lstStyle/>
          <a:p>
            <a:pPr marL="0" indent="0">
              <a:buNone/>
            </a:pPr>
            <a:r>
              <a:rPr lang="en-US" sz="2000" dirty="0"/>
              <a:t>Easy things: P(stay in high poverty | income) and direct comparison of two different matrices</a:t>
            </a:r>
          </a:p>
          <a:p>
            <a:pPr marL="0" indent="0">
              <a:buNone/>
            </a:pPr>
            <a:endParaRPr lang="en-US" sz="2000" dirty="0"/>
          </a:p>
          <a:p>
            <a:r>
              <a:rPr lang="en-US" sz="2000" dirty="0"/>
              <a:t>Interpretation: </a:t>
            </a:r>
          </a:p>
          <a:p>
            <a:pPr lvl="1"/>
            <a:r>
              <a:rPr lang="en-US" sz="2000" dirty="0"/>
              <a:t>Same thing as previous slide, but another perspective that provides a bit more detail.</a:t>
            </a:r>
          </a:p>
        </p:txBody>
      </p:sp>
    </p:spTree>
    <p:extLst>
      <p:ext uri="{BB962C8B-B14F-4D97-AF65-F5344CB8AC3E}">
        <p14:creationId xmlns:p14="http://schemas.microsoft.com/office/powerpoint/2010/main" val="190626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1097-D6E7-4F6A-9E04-D1059B11B9E8}"/>
              </a:ext>
            </a:extLst>
          </p:cNvPr>
          <p:cNvSpPr>
            <a:spLocks noGrp="1"/>
          </p:cNvSpPr>
          <p:nvPr>
            <p:ph type="title"/>
          </p:nvPr>
        </p:nvSpPr>
        <p:spPr/>
        <p:txBody>
          <a:bodyPr>
            <a:normAutofit fontScale="90000"/>
          </a:bodyPr>
          <a:lstStyle/>
          <a:p>
            <a:r>
              <a:rPr lang="en-US" dirty="0"/>
              <a:t>Fact 4: Poor neighborhoods’ average income improve slower than average income of a cohort of their residents</a:t>
            </a:r>
          </a:p>
        </p:txBody>
      </p:sp>
      <p:sp>
        <p:nvSpPr>
          <p:cNvPr id="3" name="Content Placeholder 2">
            <a:extLst>
              <a:ext uri="{FF2B5EF4-FFF2-40B4-BE49-F238E27FC236}">
                <a16:creationId xmlns:a16="http://schemas.microsoft.com/office/drawing/2014/main" id="{57447305-76C6-4B2D-9B3C-05E612DBD75D}"/>
              </a:ext>
            </a:extLst>
          </p:cNvPr>
          <p:cNvSpPr>
            <a:spLocks noGrp="1"/>
          </p:cNvSpPr>
          <p:nvPr>
            <p:ph idx="1"/>
          </p:nvPr>
        </p:nvSpPr>
        <p:spPr>
          <a:xfrm>
            <a:off x="838200" y="5451231"/>
            <a:ext cx="10515600" cy="725732"/>
          </a:xfrm>
        </p:spPr>
        <p:txBody>
          <a:bodyPr>
            <a:noAutofit/>
          </a:bodyPr>
          <a:lstStyle/>
          <a:p>
            <a:r>
              <a:rPr lang="en-US" dirty="0"/>
              <a:t>This helps put a number on how important selective migration is.  It depresses income growth from about 11% to roughly 0.</a:t>
            </a:r>
          </a:p>
          <a:p>
            <a:r>
              <a:rPr lang="en-US" dirty="0"/>
              <a:t>All the selective migration, accumulating over time, ends up having a relatively big effect.</a:t>
            </a:r>
          </a:p>
          <a:p>
            <a:pPr lvl="1"/>
            <a:endParaRPr lang="en-US" dirty="0"/>
          </a:p>
        </p:txBody>
      </p:sp>
      <p:pic>
        <p:nvPicPr>
          <p:cNvPr id="5" name="Picture 4">
            <a:extLst>
              <a:ext uri="{FF2B5EF4-FFF2-40B4-BE49-F238E27FC236}">
                <a16:creationId xmlns:a16="http://schemas.microsoft.com/office/drawing/2014/main" id="{2B78C87E-353D-491D-AA0F-E1EB8A8F35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2112" y="1690688"/>
            <a:ext cx="4804389" cy="3493477"/>
          </a:xfrm>
          <a:prstGeom prst="rect">
            <a:avLst/>
          </a:prstGeom>
        </p:spPr>
      </p:pic>
    </p:spTree>
    <p:extLst>
      <p:ext uri="{BB962C8B-B14F-4D97-AF65-F5344CB8AC3E}">
        <p14:creationId xmlns:p14="http://schemas.microsoft.com/office/powerpoint/2010/main" val="3324037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D851-D505-42F0-812C-3DFB60A1245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E99A0FD-234E-474D-B6FD-ED1600E32103}"/>
              </a:ext>
            </a:extLst>
          </p:cNvPr>
          <p:cNvSpPr>
            <a:spLocks noGrp="1"/>
          </p:cNvSpPr>
          <p:nvPr>
            <p:ph idx="1"/>
          </p:nvPr>
        </p:nvSpPr>
        <p:spPr/>
        <p:txBody>
          <a:bodyPr/>
          <a:lstStyle/>
          <a:p>
            <a:pPr marL="457200" indent="-457200">
              <a:buFont typeface="+mj-lt"/>
              <a:buAutoNum type="arabicPeriod"/>
            </a:pPr>
            <a:r>
              <a:rPr lang="en-US" dirty="0"/>
              <a:t>Data</a:t>
            </a:r>
          </a:p>
          <a:p>
            <a:pPr marL="457200" indent="-457200">
              <a:buFont typeface="+mj-lt"/>
              <a:buAutoNum type="arabicPeriod"/>
            </a:pPr>
            <a:r>
              <a:rPr lang="en-US" dirty="0"/>
              <a:t>Statistics on income and migration dynamics</a:t>
            </a:r>
          </a:p>
          <a:p>
            <a:pPr marL="457200" indent="-457200">
              <a:buFont typeface="+mj-lt"/>
              <a:buAutoNum type="arabicPeriod"/>
            </a:pPr>
            <a:r>
              <a:rPr lang="en-US" dirty="0"/>
              <a:t>Statistics on selective migration</a:t>
            </a:r>
          </a:p>
          <a:p>
            <a:pPr marL="457200" indent="-457200">
              <a:buFont typeface="+mj-lt"/>
              <a:buAutoNum type="arabicPeriod"/>
            </a:pPr>
            <a:r>
              <a:rPr lang="en-US" dirty="0"/>
              <a:t>Model set-up and calibration</a:t>
            </a:r>
          </a:p>
          <a:p>
            <a:pPr marL="457200" indent="-457200">
              <a:buFont typeface="+mj-lt"/>
              <a:buAutoNum type="arabicPeriod"/>
            </a:pPr>
            <a:r>
              <a:rPr lang="en-US" dirty="0"/>
              <a:t>Model results</a:t>
            </a:r>
          </a:p>
        </p:txBody>
      </p:sp>
    </p:spTree>
    <p:extLst>
      <p:ext uri="{BB962C8B-B14F-4D97-AF65-F5344CB8AC3E}">
        <p14:creationId xmlns:p14="http://schemas.microsoft.com/office/powerpoint/2010/main" val="1962953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1097-D6E7-4F6A-9E04-D1059B11B9E8}"/>
              </a:ext>
            </a:extLst>
          </p:cNvPr>
          <p:cNvSpPr>
            <a:spLocks noGrp="1"/>
          </p:cNvSpPr>
          <p:nvPr>
            <p:ph type="title"/>
          </p:nvPr>
        </p:nvSpPr>
        <p:spPr/>
        <p:txBody>
          <a:bodyPr/>
          <a:lstStyle/>
          <a:p>
            <a:r>
              <a:rPr lang="en-US" dirty="0"/>
              <a:t>Model overview</a:t>
            </a:r>
          </a:p>
        </p:txBody>
      </p:sp>
      <p:sp>
        <p:nvSpPr>
          <p:cNvPr id="3" name="Content Placeholder 2">
            <a:extLst>
              <a:ext uri="{FF2B5EF4-FFF2-40B4-BE49-F238E27FC236}">
                <a16:creationId xmlns:a16="http://schemas.microsoft.com/office/drawing/2014/main" id="{57447305-76C6-4B2D-9B3C-05E612DBD75D}"/>
              </a:ext>
            </a:extLst>
          </p:cNvPr>
          <p:cNvSpPr>
            <a:spLocks noGrp="1"/>
          </p:cNvSpPr>
          <p:nvPr>
            <p:ph idx="1"/>
          </p:nvPr>
        </p:nvSpPr>
        <p:spPr/>
        <p:txBody>
          <a:bodyPr>
            <a:normAutofit/>
          </a:bodyPr>
          <a:lstStyle/>
          <a:p>
            <a:r>
              <a:rPr lang="en-US" dirty="0"/>
              <a:t>We use a mechanical model to examine the quantitative importance of the income changes and selective migration that we just documented</a:t>
            </a:r>
          </a:p>
          <a:p>
            <a:endParaRPr lang="en-US" dirty="0"/>
          </a:p>
          <a:p>
            <a:r>
              <a:rPr lang="en-US" dirty="0"/>
              <a:t>Mechanical: Assume that income distribution in </a:t>
            </a:r>
            <a:r>
              <a:rPr lang="en-US" dirty="0" err="1"/>
              <a:t>nbhd</a:t>
            </a:r>
            <a:r>
              <a:rPr lang="en-US" dirty="0"/>
              <a:t> type will change according to observed process, then that people change </a:t>
            </a:r>
            <a:r>
              <a:rPr lang="en-US" dirty="0" err="1"/>
              <a:t>nbhds</a:t>
            </a:r>
            <a:r>
              <a:rPr lang="en-US" dirty="0"/>
              <a:t> according to new income, then iterate</a:t>
            </a:r>
          </a:p>
          <a:p>
            <a:endParaRPr lang="en-US" dirty="0"/>
          </a:p>
          <a:p>
            <a:r>
              <a:rPr lang="en-US" dirty="0"/>
              <a:t>We then change income process and </a:t>
            </a:r>
            <a:r>
              <a:rPr lang="en-US" dirty="0" err="1"/>
              <a:t>nbhd</a:t>
            </a:r>
            <a:r>
              <a:rPr lang="en-US" dirty="0"/>
              <a:t> choices and see how </a:t>
            </a:r>
            <a:r>
              <a:rPr lang="en-US" dirty="0" err="1"/>
              <a:t>nbhd</a:t>
            </a:r>
            <a:r>
              <a:rPr lang="en-US" dirty="0"/>
              <a:t> outcomes change</a:t>
            </a:r>
          </a:p>
          <a:p>
            <a:pPr lvl="1"/>
            <a:endParaRPr lang="en-US" dirty="0"/>
          </a:p>
          <a:p>
            <a:r>
              <a:rPr lang="en-US" dirty="0"/>
              <a:t>Last, use model to simulate neighborhood effects of different place-based policies </a:t>
            </a:r>
          </a:p>
          <a:p>
            <a:pPr lvl="1"/>
            <a:r>
              <a:rPr lang="en-US" dirty="0"/>
              <a:t>What would be effect of PBPs that target: incomes versus migration versus both?</a:t>
            </a:r>
          </a:p>
          <a:p>
            <a:pPr lvl="1"/>
            <a:r>
              <a:rPr lang="en-US" dirty="0"/>
              <a:t>How does migration moderate effect of PBP that successfully boosted incomes?</a:t>
            </a:r>
          </a:p>
        </p:txBody>
      </p:sp>
    </p:spTree>
    <p:extLst>
      <p:ext uri="{BB962C8B-B14F-4D97-AF65-F5344CB8AC3E}">
        <p14:creationId xmlns:p14="http://schemas.microsoft.com/office/powerpoint/2010/main" val="80777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954B8-F989-4820-930C-918E7C7AD070}"/>
              </a:ext>
            </a:extLst>
          </p:cNvPr>
          <p:cNvSpPr>
            <a:spLocks noGrp="1"/>
          </p:cNvSpPr>
          <p:nvPr>
            <p:ph type="title"/>
          </p:nvPr>
        </p:nvSpPr>
        <p:spPr>
          <a:xfrm>
            <a:off x="838200" y="304165"/>
            <a:ext cx="10515600" cy="1325563"/>
          </a:xfrm>
        </p:spPr>
        <p:txBody>
          <a:bodyPr/>
          <a:lstStyle/>
          <a:p>
            <a:r>
              <a:rPr lang="en-US" dirty="0"/>
              <a:t>Simulation method (1 of 2)</a:t>
            </a:r>
          </a:p>
        </p:txBody>
      </p:sp>
      <p:sp>
        <p:nvSpPr>
          <p:cNvPr id="3" name="Content Placeholder 2">
            <a:extLst>
              <a:ext uri="{FF2B5EF4-FFF2-40B4-BE49-F238E27FC236}">
                <a16:creationId xmlns:a16="http://schemas.microsoft.com/office/drawing/2014/main" id="{928F2CA9-4833-4B87-B735-A0208E12A396}"/>
              </a:ext>
            </a:extLst>
          </p:cNvPr>
          <p:cNvSpPr>
            <a:spLocks noGrp="1"/>
          </p:cNvSpPr>
          <p:nvPr>
            <p:ph idx="1"/>
          </p:nvPr>
        </p:nvSpPr>
        <p:spPr>
          <a:xfrm>
            <a:off x="838200" y="1957705"/>
            <a:ext cx="10515600" cy="4351338"/>
          </a:xfrm>
        </p:spPr>
        <p:txBody>
          <a:bodyPr>
            <a:normAutofit/>
          </a:bodyPr>
          <a:lstStyle/>
          <a:p>
            <a:pPr marL="457200" indent="-457200">
              <a:buFont typeface="+mj-lt"/>
              <a:buAutoNum type="arabicPeriod"/>
            </a:pPr>
            <a:r>
              <a:rPr lang="en-US" dirty="0"/>
              <a:t>Start with the observed distribution of income types across neighborhood poverty bins</a:t>
            </a:r>
          </a:p>
          <a:p>
            <a:pPr lvl="1"/>
            <a:r>
              <a:rPr lang="en-US" dirty="0"/>
              <a:t>Individual income types = $10,000 bins, top coded at $100,000</a:t>
            </a:r>
          </a:p>
          <a:p>
            <a:pPr lvl="1"/>
            <a:r>
              <a:rPr lang="en-US" dirty="0"/>
              <a:t>Neighborhood poverty bins = 0-10, 10-20, 20-30, 30+</a:t>
            </a:r>
          </a:p>
          <a:p>
            <a:pPr marL="457200" indent="-457200">
              <a:buFont typeface="+mj-lt"/>
              <a:buAutoNum type="arabicPeriod"/>
            </a:pPr>
            <a:endParaRPr lang="en-US" dirty="0"/>
          </a:p>
          <a:p>
            <a:pPr marL="457200" indent="-457200">
              <a:buFont typeface="+mj-lt"/>
              <a:buAutoNum type="arabicPeriod"/>
            </a:pPr>
            <a:r>
              <a:rPr lang="en-US" dirty="0"/>
              <a:t>Shift the income distribution in each neighborhood poverty bin.  To calibrate:</a:t>
            </a:r>
          </a:p>
          <a:p>
            <a:pPr lvl="1"/>
            <a:r>
              <a:rPr lang="en-US" dirty="0"/>
              <a:t>Compute the income distributions in (e.g.) 2012 and 2013 for people who lived in a given poverty bin in 2012.</a:t>
            </a:r>
          </a:p>
          <a:p>
            <a:pPr lvl="1"/>
            <a:r>
              <a:rPr lang="en-US" dirty="0"/>
              <a:t>Compute the change in the share of households in each income bin</a:t>
            </a:r>
          </a:p>
          <a:p>
            <a:pPr lvl="1"/>
            <a:r>
              <a:rPr lang="en-US" dirty="0"/>
              <a:t>Assume that this would always be the change in distribution experienced by that neighborhood poverty bin </a:t>
            </a:r>
          </a:p>
          <a:p>
            <a:pPr lvl="2"/>
            <a:r>
              <a:rPr lang="en-US" dirty="0"/>
              <a:t>We will be able to improve this in the future</a:t>
            </a:r>
          </a:p>
        </p:txBody>
      </p:sp>
    </p:spTree>
    <p:extLst>
      <p:ext uri="{BB962C8B-B14F-4D97-AF65-F5344CB8AC3E}">
        <p14:creationId xmlns:p14="http://schemas.microsoft.com/office/powerpoint/2010/main" val="3581076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954B8-F989-4820-930C-918E7C7AD070}"/>
              </a:ext>
            </a:extLst>
          </p:cNvPr>
          <p:cNvSpPr>
            <a:spLocks noGrp="1"/>
          </p:cNvSpPr>
          <p:nvPr>
            <p:ph type="title"/>
          </p:nvPr>
        </p:nvSpPr>
        <p:spPr/>
        <p:txBody>
          <a:bodyPr/>
          <a:lstStyle/>
          <a:p>
            <a:r>
              <a:rPr lang="en-US" dirty="0"/>
              <a:t>Simulation method (2 of 2)</a:t>
            </a:r>
          </a:p>
        </p:txBody>
      </p:sp>
      <p:sp>
        <p:nvSpPr>
          <p:cNvPr id="3" name="Content Placeholder 2">
            <a:extLst>
              <a:ext uri="{FF2B5EF4-FFF2-40B4-BE49-F238E27FC236}">
                <a16:creationId xmlns:a16="http://schemas.microsoft.com/office/drawing/2014/main" id="{928F2CA9-4833-4B87-B735-A0208E12A396}"/>
              </a:ext>
            </a:extLst>
          </p:cNvPr>
          <p:cNvSpPr>
            <a:spLocks noGrp="1"/>
          </p:cNvSpPr>
          <p:nvPr>
            <p:ph idx="1"/>
          </p:nvPr>
        </p:nvSpPr>
        <p:spPr/>
        <p:txBody>
          <a:bodyPr>
            <a:normAutofit/>
          </a:bodyPr>
          <a:lstStyle/>
          <a:p>
            <a:pPr marL="0" indent="0">
              <a:buNone/>
            </a:pPr>
            <a:r>
              <a:rPr lang="en-US" dirty="0"/>
              <a:t>3. Given the new income distribution, move households according to the observed neighborhood choices of people in the same situation </a:t>
            </a:r>
          </a:p>
          <a:p>
            <a:r>
              <a:rPr lang="en-US" dirty="0"/>
              <a:t>Example calibration: use distribution of neighborhoods in 2013 for households who earned $55,000 in 2013 and lived in 20-30% poverty in 2012 </a:t>
            </a:r>
          </a:p>
          <a:p>
            <a:pPr lvl="1"/>
            <a:endParaRPr lang="en-US" dirty="0"/>
          </a:p>
          <a:p>
            <a:pPr marL="0" indent="0">
              <a:buNone/>
            </a:pPr>
            <a:r>
              <a:rPr lang="en-US" dirty="0"/>
              <a:t>4. Add/subtract “births”/“deaths” in each </a:t>
            </a:r>
            <a:r>
              <a:rPr lang="en-US" dirty="0" err="1"/>
              <a:t>nbhd</a:t>
            </a:r>
            <a:r>
              <a:rPr lang="en-US" dirty="0"/>
              <a:t> type X income bin</a:t>
            </a:r>
          </a:p>
          <a:p>
            <a:r>
              <a:rPr lang="en-US" dirty="0"/>
              <a:t>Births = turning 25 or appearing in data for first time</a:t>
            </a:r>
          </a:p>
          <a:p>
            <a:r>
              <a:rPr lang="en-US" dirty="0"/>
              <a:t>Deaths = turning 65 or disappearing from the data</a:t>
            </a:r>
          </a:p>
          <a:p>
            <a:pPr marL="914400" lvl="1" indent="-457200">
              <a:buFont typeface="+mj-lt"/>
              <a:buAutoNum type="arabicPeriod"/>
            </a:pPr>
            <a:endParaRPr lang="en-US" dirty="0"/>
          </a:p>
          <a:p>
            <a:pPr marL="0" indent="0">
              <a:buNone/>
            </a:pPr>
            <a:r>
              <a:rPr lang="en-US" dirty="0"/>
              <a:t>5. Iterate for multiple periods, tracking characteristics of each neighborhood bin</a:t>
            </a:r>
          </a:p>
        </p:txBody>
      </p:sp>
    </p:spTree>
    <p:extLst>
      <p:ext uri="{BB962C8B-B14F-4D97-AF65-F5344CB8AC3E}">
        <p14:creationId xmlns:p14="http://schemas.microsoft.com/office/powerpoint/2010/main" val="2354364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CD296-2FAC-4440-8B58-037021C6C67A}"/>
              </a:ext>
            </a:extLst>
          </p:cNvPr>
          <p:cNvSpPr>
            <a:spLocks noGrp="1"/>
          </p:cNvSpPr>
          <p:nvPr>
            <p:ph type="title"/>
          </p:nvPr>
        </p:nvSpPr>
        <p:spPr/>
        <p:txBody>
          <a:bodyPr/>
          <a:lstStyle/>
          <a:p>
            <a:r>
              <a:rPr lang="en-US" dirty="0"/>
              <a:t>Model caveats</a:t>
            </a:r>
          </a:p>
        </p:txBody>
      </p:sp>
      <p:sp>
        <p:nvSpPr>
          <p:cNvPr id="3" name="Content Placeholder 2">
            <a:extLst>
              <a:ext uri="{FF2B5EF4-FFF2-40B4-BE49-F238E27FC236}">
                <a16:creationId xmlns:a16="http://schemas.microsoft.com/office/drawing/2014/main" id="{0958E96C-F853-4A17-829F-BDD5303B07F6}"/>
              </a:ext>
            </a:extLst>
          </p:cNvPr>
          <p:cNvSpPr>
            <a:spLocks noGrp="1"/>
          </p:cNvSpPr>
          <p:nvPr>
            <p:ph idx="1"/>
          </p:nvPr>
        </p:nvSpPr>
        <p:spPr/>
        <p:txBody>
          <a:bodyPr/>
          <a:lstStyle/>
          <a:p>
            <a:r>
              <a:rPr lang="en-US" dirty="0"/>
              <a:t>Note that our calibration is just based on observed values.  For example, we don’t have the causal effect of income changes on migration.</a:t>
            </a:r>
          </a:p>
          <a:p>
            <a:endParaRPr lang="en-US" dirty="0"/>
          </a:p>
          <a:p>
            <a:r>
              <a:rPr lang="en-US" dirty="0"/>
              <a:t>We hold all parameters constant even as neighborhood characteristics change over the course of the simulation</a:t>
            </a:r>
          </a:p>
          <a:p>
            <a:pPr lvl="1"/>
            <a:r>
              <a:rPr lang="en-US" dirty="0"/>
              <a:t>For example, no endogenous amenity effects</a:t>
            </a:r>
          </a:p>
          <a:p>
            <a:pPr lvl="1"/>
            <a:endParaRPr lang="en-US" dirty="0"/>
          </a:p>
          <a:p>
            <a:r>
              <a:rPr lang="en-US" dirty="0"/>
              <a:t>Many different types of high-poverty and low-poverty neighborhoods.  Some of our transitions could be picking up neighborhoods that are kind of mischaracterized—perhaps a census tract that has a public housing development that drives up its poverty but is part of a much larger wealthy area</a:t>
            </a:r>
          </a:p>
        </p:txBody>
      </p:sp>
    </p:spTree>
    <p:extLst>
      <p:ext uri="{BB962C8B-B14F-4D97-AF65-F5344CB8AC3E}">
        <p14:creationId xmlns:p14="http://schemas.microsoft.com/office/powerpoint/2010/main" val="2045540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1D851-D505-42F0-812C-3DFB60A1245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0E99A0FD-234E-474D-B6FD-ED1600E32103}"/>
              </a:ext>
            </a:extLst>
          </p:cNvPr>
          <p:cNvSpPr>
            <a:spLocks noGrp="1"/>
          </p:cNvSpPr>
          <p:nvPr>
            <p:ph idx="1"/>
          </p:nvPr>
        </p:nvSpPr>
        <p:spPr/>
        <p:txBody>
          <a:bodyPr/>
          <a:lstStyle/>
          <a:p>
            <a:pPr marL="457200" indent="-457200">
              <a:buFont typeface="+mj-lt"/>
              <a:buAutoNum type="arabicPeriod"/>
            </a:pPr>
            <a:r>
              <a:rPr lang="en-US" dirty="0"/>
              <a:t>Data and descriptive statistics</a:t>
            </a:r>
          </a:p>
          <a:p>
            <a:pPr marL="457200" indent="-457200">
              <a:buFont typeface="+mj-lt"/>
              <a:buAutoNum type="arabicPeriod"/>
            </a:pPr>
            <a:r>
              <a:rPr lang="en-US" dirty="0"/>
              <a:t>Statistics on income and migration dynamics</a:t>
            </a:r>
          </a:p>
          <a:p>
            <a:pPr marL="457200" indent="-457200">
              <a:buFont typeface="+mj-lt"/>
              <a:buAutoNum type="arabicPeriod"/>
            </a:pPr>
            <a:r>
              <a:rPr lang="en-US" dirty="0"/>
              <a:t>Statistics on selective migration</a:t>
            </a:r>
          </a:p>
          <a:p>
            <a:pPr marL="457200" indent="-457200">
              <a:buFont typeface="+mj-lt"/>
              <a:buAutoNum type="arabicPeriod"/>
            </a:pPr>
            <a:r>
              <a:rPr lang="en-US" dirty="0"/>
              <a:t>Model set-up and calibration</a:t>
            </a:r>
          </a:p>
          <a:p>
            <a:pPr marL="457200" indent="-457200">
              <a:buFont typeface="+mj-lt"/>
              <a:buAutoNum type="arabicPeriod"/>
            </a:pPr>
            <a:r>
              <a:rPr lang="en-US" dirty="0"/>
              <a:t>Model results</a:t>
            </a:r>
          </a:p>
        </p:txBody>
      </p:sp>
    </p:spTree>
    <p:extLst>
      <p:ext uri="{BB962C8B-B14F-4D97-AF65-F5344CB8AC3E}">
        <p14:creationId xmlns:p14="http://schemas.microsoft.com/office/powerpoint/2010/main" val="4217093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954B8-F989-4820-930C-918E7C7AD070}"/>
              </a:ext>
            </a:extLst>
          </p:cNvPr>
          <p:cNvSpPr>
            <a:spLocks noGrp="1"/>
          </p:cNvSpPr>
          <p:nvPr>
            <p:ph type="title"/>
          </p:nvPr>
        </p:nvSpPr>
        <p:spPr/>
        <p:txBody>
          <a:bodyPr/>
          <a:lstStyle/>
          <a:p>
            <a:r>
              <a:rPr lang="en-US" dirty="0"/>
              <a:t>Example: first period to second period</a:t>
            </a:r>
          </a:p>
        </p:txBody>
      </p:sp>
      <p:sp>
        <p:nvSpPr>
          <p:cNvPr id="3" name="Content Placeholder 2">
            <a:extLst>
              <a:ext uri="{FF2B5EF4-FFF2-40B4-BE49-F238E27FC236}">
                <a16:creationId xmlns:a16="http://schemas.microsoft.com/office/drawing/2014/main" id="{928F2CA9-4833-4B87-B735-A0208E12A396}"/>
              </a:ext>
            </a:extLst>
          </p:cNvPr>
          <p:cNvSpPr>
            <a:spLocks noGrp="1"/>
          </p:cNvSpPr>
          <p:nvPr>
            <p:ph idx="1"/>
          </p:nvPr>
        </p:nvSpPr>
        <p:spPr/>
        <p:txBody>
          <a:bodyPr/>
          <a:lstStyle/>
          <a:p>
            <a:r>
              <a:rPr lang="en-US" dirty="0"/>
              <a:t>Baseline distribution is given by:</a:t>
            </a:r>
          </a:p>
          <a:p>
            <a:endParaRPr lang="en-US" dirty="0"/>
          </a:p>
          <a:p>
            <a:pPr lvl="1"/>
            <a:r>
              <a:rPr lang="en-US" dirty="0"/>
              <a:t>[]</a:t>
            </a:r>
          </a:p>
          <a:p>
            <a:pPr lvl="1"/>
            <a:endParaRPr lang="en-US" dirty="0"/>
          </a:p>
          <a:p>
            <a:pPr lvl="1"/>
            <a:endParaRPr lang="en-US" dirty="0"/>
          </a:p>
          <a:p>
            <a:r>
              <a:rPr lang="en-US" dirty="0"/>
              <a:t>After one period, the new distribution is:</a:t>
            </a:r>
          </a:p>
          <a:p>
            <a:endParaRPr lang="en-US" dirty="0"/>
          </a:p>
          <a:p>
            <a:pPr lvl="1"/>
            <a:r>
              <a:rPr lang="en-US" dirty="0"/>
              <a:t>[]</a:t>
            </a:r>
          </a:p>
          <a:p>
            <a:pPr lvl="1"/>
            <a:endParaRPr lang="en-US" dirty="0"/>
          </a:p>
          <a:p>
            <a:r>
              <a:rPr lang="en-US" dirty="0"/>
              <a:t>Next, consider 10 periods and track population and low-income share (defined as share of individuals with household income below $30,000)</a:t>
            </a:r>
          </a:p>
          <a:p>
            <a:endParaRPr lang="en-US" dirty="0"/>
          </a:p>
          <a:p>
            <a:pPr lvl="1"/>
            <a:endParaRPr lang="en-US" dirty="0"/>
          </a:p>
          <a:p>
            <a:endParaRPr lang="en-US" dirty="0"/>
          </a:p>
        </p:txBody>
      </p:sp>
    </p:spTree>
    <p:extLst>
      <p:ext uri="{BB962C8B-B14F-4D97-AF65-F5344CB8AC3E}">
        <p14:creationId xmlns:p14="http://schemas.microsoft.com/office/powerpoint/2010/main" val="3192759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Baseline: pop alone first, then low-income share, then median income</a:t>
            </a:r>
          </a:p>
        </p:txBody>
      </p:sp>
      <p:pic>
        <p:nvPicPr>
          <p:cNvPr id="4" name="Content Placeholder 3">
            <a:extLst>
              <a:ext uri="{FF2B5EF4-FFF2-40B4-BE49-F238E27FC236}">
                <a16:creationId xmlns:a16="http://schemas.microsoft.com/office/drawing/2014/main" id="{9CC0BB30-9D61-4A99-A0EB-ABDB3BB608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2760" y="1371028"/>
            <a:ext cx="7415040" cy="5210401"/>
          </a:xfrm>
          <a:prstGeom prst="rect">
            <a:avLst/>
          </a:prstGeom>
        </p:spPr>
      </p:pic>
    </p:spTree>
    <p:extLst>
      <p:ext uri="{BB962C8B-B14F-4D97-AF65-F5344CB8AC3E}">
        <p14:creationId xmlns:p14="http://schemas.microsoft.com/office/powerpoint/2010/main" val="2655456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954B8-F989-4820-930C-918E7C7AD070}"/>
              </a:ext>
            </a:extLst>
          </p:cNvPr>
          <p:cNvSpPr>
            <a:spLocks noGrp="1"/>
          </p:cNvSpPr>
          <p:nvPr>
            <p:ph type="title"/>
          </p:nvPr>
        </p:nvSpPr>
        <p:spPr/>
        <p:txBody>
          <a:bodyPr/>
          <a:lstStyle/>
          <a:p>
            <a:r>
              <a:rPr lang="en-US" dirty="0"/>
              <a:t>Discussion of baseline </a:t>
            </a:r>
          </a:p>
        </p:txBody>
      </p:sp>
      <p:sp>
        <p:nvSpPr>
          <p:cNvPr id="3" name="Content Placeholder 2">
            <a:extLst>
              <a:ext uri="{FF2B5EF4-FFF2-40B4-BE49-F238E27FC236}">
                <a16:creationId xmlns:a16="http://schemas.microsoft.com/office/drawing/2014/main" id="{928F2CA9-4833-4B87-B735-A0208E12A396}"/>
              </a:ext>
            </a:extLst>
          </p:cNvPr>
          <p:cNvSpPr>
            <a:spLocks noGrp="1"/>
          </p:cNvSpPr>
          <p:nvPr>
            <p:ph idx="1"/>
          </p:nvPr>
        </p:nvSpPr>
        <p:spPr/>
        <p:txBody>
          <a:bodyPr/>
          <a:lstStyle/>
          <a:p>
            <a:r>
              <a:rPr lang="en-US" dirty="0"/>
              <a:t>Mechanical model illustrates how the churn in individual outcomes produces stagnant neighborhood outcomes</a:t>
            </a:r>
          </a:p>
          <a:p>
            <a:endParaRPr lang="en-US" dirty="0"/>
          </a:p>
          <a:p>
            <a:r>
              <a:rPr lang="en-US" dirty="0"/>
              <a:t>Next, let’s change elements of simulation and see how neighborhood trajectory changes.</a:t>
            </a:r>
          </a:p>
          <a:p>
            <a:pPr marL="914400" lvl="1" indent="-457200">
              <a:buFont typeface="+mj-lt"/>
              <a:buAutoNum type="arabicPeriod"/>
            </a:pPr>
            <a:r>
              <a:rPr lang="en-US" dirty="0"/>
              <a:t>Increase baseline number of non-poor households in HP neighborhood</a:t>
            </a:r>
          </a:p>
          <a:p>
            <a:pPr marL="914400" lvl="1" indent="-457200">
              <a:buFont typeface="+mj-lt"/>
              <a:buAutoNum type="arabicPeriod"/>
            </a:pPr>
            <a:r>
              <a:rPr lang="en-US" dirty="0"/>
              <a:t>Improve income </a:t>
            </a:r>
            <a:r>
              <a:rPr lang="en-US" i="1" dirty="0"/>
              <a:t>process </a:t>
            </a:r>
            <a:r>
              <a:rPr lang="en-US" dirty="0"/>
              <a:t>in HP neighborhood</a:t>
            </a:r>
          </a:p>
          <a:p>
            <a:pPr marL="914400" lvl="1" indent="-457200">
              <a:buFont typeface="+mj-lt"/>
              <a:buAutoNum type="arabicPeriod"/>
            </a:pPr>
            <a:r>
              <a:rPr lang="en-US" dirty="0"/>
              <a:t>Increase retention rate of middle-income people in HP neighborhood</a:t>
            </a:r>
          </a:p>
          <a:p>
            <a:pPr marL="914400" lvl="1" indent="-457200">
              <a:buFont typeface="+mj-lt"/>
              <a:buAutoNum type="arabicPeriod"/>
            </a:pPr>
            <a:r>
              <a:rPr lang="en-US" dirty="0"/>
              <a:t>Improve both income process and retention rate in HP neighborhood</a:t>
            </a:r>
          </a:p>
          <a:p>
            <a:pPr marL="914400" lvl="1" indent="-457200">
              <a:buFont typeface="+mj-lt"/>
              <a:buAutoNum type="arabicPeriod"/>
            </a:pPr>
            <a:endParaRPr lang="en-US" dirty="0"/>
          </a:p>
          <a:p>
            <a:r>
              <a:rPr lang="en-US" dirty="0"/>
              <a:t>This sheds light on the role of each force in generating persistence, and we can also extrapolate and pretend like these are effects of a PBP</a:t>
            </a:r>
          </a:p>
          <a:p>
            <a:pPr lvl="1"/>
            <a:endParaRPr lang="en-US" dirty="0"/>
          </a:p>
        </p:txBody>
      </p:sp>
    </p:spTree>
    <p:extLst>
      <p:ext uri="{BB962C8B-B14F-4D97-AF65-F5344CB8AC3E}">
        <p14:creationId xmlns:p14="http://schemas.microsoft.com/office/powerpoint/2010/main" val="161220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Result 1/4: Changing baseline LI share </a:t>
            </a:r>
          </a:p>
        </p:txBody>
      </p:sp>
      <p:sp>
        <p:nvSpPr>
          <p:cNvPr id="5" name="Content Placeholder 4">
            <a:extLst>
              <a:ext uri="{FF2B5EF4-FFF2-40B4-BE49-F238E27FC236}">
                <a16:creationId xmlns:a16="http://schemas.microsoft.com/office/drawing/2014/main" id="{7872B1D6-0007-4338-9819-F0F4D67326EF}"/>
              </a:ext>
            </a:extLst>
          </p:cNvPr>
          <p:cNvSpPr>
            <a:spLocks noGrp="1"/>
          </p:cNvSpPr>
          <p:nvPr>
            <p:ph idx="1"/>
          </p:nvPr>
        </p:nvSpPr>
        <p:spPr/>
        <p:txBody>
          <a:bodyPr/>
          <a:lstStyle/>
          <a:p>
            <a:r>
              <a:rPr lang="en-US" dirty="0"/>
              <a:t>The boost is immediately migrated away</a:t>
            </a:r>
          </a:p>
        </p:txBody>
      </p:sp>
    </p:spTree>
    <p:extLst>
      <p:ext uri="{BB962C8B-B14F-4D97-AF65-F5344CB8AC3E}">
        <p14:creationId xmlns:p14="http://schemas.microsoft.com/office/powerpoint/2010/main" val="1059950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Result 2/4: Changing income process </a:t>
            </a:r>
          </a:p>
        </p:txBody>
      </p:sp>
      <p:sp>
        <p:nvSpPr>
          <p:cNvPr id="5" name="Content Placeholder 4">
            <a:extLst>
              <a:ext uri="{FF2B5EF4-FFF2-40B4-BE49-F238E27FC236}">
                <a16:creationId xmlns:a16="http://schemas.microsoft.com/office/drawing/2014/main" id="{7872B1D6-0007-4338-9819-F0F4D67326EF}"/>
              </a:ext>
            </a:extLst>
          </p:cNvPr>
          <p:cNvSpPr>
            <a:spLocks noGrp="1"/>
          </p:cNvSpPr>
          <p:nvPr>
            <p:ph idx="1"/>
          </p:nvPr>
        </p:nvSpPr>
        <p:spPr/>
        <p:txBody>
          <a:bodyPr/>
          <a:lstStyle/>
          <a:p>
            <a:r>
              <a:rPr lang="en-US" dirty="0"/>
              <a:t>It does improve poverty rate in the HP neighborhood, but note that the second-lowest bin actually gets a bigger boost.  A lot of these gains are migrated away.</a:t>
            </a:r>
          </a:p>
        </p:txBody>
      </p:sp>
    </p:spTree>
    <p:extLst>
      <p:ext uri="{BB962C8B-B14F-4D97-AF65-F5344CB8AC3E}">
        <p14:creationId xmlns:p14="http://schemas.microsoft.com/office/powerpoint/2010/main" val="157244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Result 3/4: Changing retention </a:t>
            </a:r>
          </a:p>
        </p:txBody>
      </p:sp>
      <p:sp>
        <p:nvSpPr>
          <p:cNvPr id="5" name="Content Placeholder 4">
            <a:extLst>
              <a:ext uri="{FF2B5EF4-FFF2-40B4-BE49-F238E27FC236}">
                <a16:creationId xmlns:a16="http://schemas.microsoft.com/office/drawing/2014/main" id="{7872B1D6-0007-4338-9819-F0F4D67326EF}"/>
              </a:ext>
            </a:extLst>
          </p:cNvPr>
          <p:cNvSpPr>
            <a:spLocks noGrp="1"/>
          </p:cNvSpPr>
          <p:nvPr>
            <p:ph idx="1"/>
          </p:nvPr>
        </p:nvSpPr>
        <p:spPr/>
        <p:txBody>
          <a:bodyPr/>
          <a:lstStyle/>
          <a:p>
            <a:r>
              <a:rPr lang="en-US" dirty="0"/>
              <a:t>Suppose that income process remains the same, but HP retains all of its middle-income residents.</a:t>
            </a:r>
          </a:p>
          <a:p>
            <a:r>
              <a:rPr lang="en-US" dirty="0"/>
              <a:t>Get about the same thing as boosting the income process.  Highlights a large potential role for PBP that harness these naturally occurring income changes.</a:t>
            </a:r>
          </a:p>
        </p:txBody>
      </p:sp>
    </p:spTree>
    <p:extLst>
      <p:ext uri="{BB962C8B-B14F-4D97-AF65-F5344CB8AC3E}">
        <p14:creationId xmlns:p14="http://schemas.microsoft.com/office/powerpoint/2010/main" val="3204421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Result 4/4: Changing process and retention </a:t>
            </a:r>
          </a:p>
        </p:txBody>
      </p:sp>
      <p:sp>
        <p:nvSpPr>
          <p:cNvPr id="5" name="Content Placeholder 4">
            <a:extLst>
              <a:ext uri="{FF2B5EF4-FFF2-40B4-BE49-F238E27FC236}">
                <a16:creationId xmlns:a16="http://schemas.microsoft.com/office/drawing/2014/main" id="{7872B1D6-0007-4338-9819-F0F4D67326EF}"/>
              </a:ext>
            </a:extLst>
          </p:cNvPr>
          <p:cNvSpPr>
            <a:spLocks noGrp="1"/>
          </p:cNvSpPr>
          <p:nvPr>
            <p:ph idx="1"/>
          </p:nvPr>
        </p:nvSpPr>
        <p:spPr/>
        <p:txBody>
          <a:bodyPr/>
          <a:lstStyle/>
          <a:p>
            <a:r>
              <a:rPr lang="en-US" dirty="0"/>
              <a:t>Really big effects—more than double (I think)</a:t>
            </a:r>
          </a:p>
        </p:txBody>
      </p:sp>
    </p:spTree>
    <p:extLst>
      <p:ext uri="{BB962C8B-B14F-4D97-AF65-F5344CB8AC3E}">
        <p14:creationId xmlns:p14="http://schemas.microsoft.com/office/powerpoint/2010/main" val="1755385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Result 5/4: Changing attraction to HP</a:t>
            </a:r>
          </a:p>
        </p:txBody>
      </p:sp>
      <p:sp>
        <p:nvSpPr>
          <p:cNvPr id="5" name="Content Placeholder 4">
            <a:extLst>
              <a:ext uri="{FF2B5EF4-FFF2-40B4-BE49-F238E27FC236}">
                <a16:creationId xmlns:a16="http://schemas.microsoft.com/office/drawing/2014/main" id="{7872B1D6-0007-4338-9819-F0F4D67326EF}"/>
              </a:ext>
            </a:extLst>
          </p:cNvPr>
          <p:cNvSpPr>
            <a:spLocks noGrp="1"/>
          </p:cNvSpPr>
          <p:nvPr>
            <p:ph idx="1"/>
          </p:nvPr>
        </p:nvSpPr>
        <p:spPr/>
        <p:txBody>
          <a:bodyPr/>
          <a:lstStyle/>
          <a:p>
            <a:r>
              <a:rPr lang="en-US" dirty="0"/>
              <a:t>Really increases population and income.  There’s no housing stock in this model, so we can get to unrealistic places, but it highlights how even small improvements in attraction to HP neighborhoods could have a big effect.  This is largely because HP neighborhoods are a pretty small share of the population.</a:t>
            </a:r>
          </a:p>
        </p:txBody>
      </p:sp>
    </p:spTree>
    <p:extLst>
      <p:ext uri="{BB962C8B-B14F-4D97-AF65-F5344CB8AC3E}">
        <p14:creationId xmlns:p14="http://schemas.microsoft.com/office/powerpoint/2010/main" val="2445950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Discussion</a:t>
            </a:r>
          </a:p>
        </p:txBody>
      </p:sp>
      <p:sp>
        <p:nvSpPr>
          <p:cNvPr id="5" name="Content Placeholder 4">
            <a:extLst>
              <a:ext uri="{FF2B5EF4-FFF2-40B4-BE49-F238E27FC236}">
                <a16:creationId xmlns:a16="http://schemas.microsoft.com/office/drawing/2014/main" id="{7458E0B7-394E-466D-A15E-0CE6B9F64C4C}"/>
              </a:ext>
            </a:extLst>
          </p:cNvPr>
          <p:cNvSpPr>
            <a:spLocks noGrp="1"/>
          </p:cNvSpPr>
          <p:nvPr>
            <p:ph idx="1"/>
          </p:nvPr>
        </p:nvSpPr>
        <p:spPr/>
        <p:txBody>
          <a:bodyPr>
            <a:normAutofit/>
          </a:bodyPr>
          <a:lstStyle/>
          <a:p>
            <a:r>
              <a:rPr lang="en-US" dirty="0"/>
              <a:t>What’s notable?</a:t>
            </a:r>
          </a:p>
          <a:p>
            <a:pPr lvl="1"/>
            <a:r>
              <a:rPr lang="en-US" dirty="0"/>
              <a:t>Changing retention and changing income process have about same effect</a:t>
            </a:r>
          </a:p>
          <a:p>
            <a:pPr lvl="1"/>
            <a:r>
              <a:rPr lang="en-US" dirty="0"/>
              <a:t>Suggests that selective migration is about half of the story in what makes concentrated poverty persistent </a:t>
            </a:r>
          </a:p>
          <a:p>
            <a:pPr lvl="1"/>
            <a:r>
              <a:rPr lang="en-US" dirty="0"/>
              <a:t>Also points to selective migration as (1) something that will work against PBP targeting labor markets and (2) something that PBP could target!</a:t>
            </a:r>
          </a:p>
          <a:p>
            <a:pPr lvl="1"/>
            <a:endParaRPr lang="en-US" dirty="0"/>
          </a:p>
          <a:p>
            <a:r>
              <a:rPr lang="en-US" dirty="0"/>
              <a:t>Extensions:</a:t>
            </a:r>
          </a:p>
          <a:p>
            <a:pPr lvl="1"/>
            <a:r>
              <a:rPr lang="en-US" dirty="0"/>
              <a:t>Estimate causal effect of income change on migration to better approximate PBP</a:t>
            </a:r>
          </a:p>
          <a:p>
            <a:pPr lvl="1"/>
            <a:r>
              <a:rPr lang="en-US" dirty="0"/>
              <a:t>Endogenize neighborhood retention/attraction to depend on characteristics, generating feedback effects</a:t>
            </a:r>
          </a:p>
          <a:p>
            <a:pPr lvl="1"/>
            <a:r>
              <a:rPr lang="en-US" dirty="0"/>
              <a:t>Write and estimate micro-founded model</a:t>
            </a:r>
          </a:p>
          <a:p>
            <a:pPr marL="0" indent="0">
              <a:buNone/>
            </a:pPr>
            <a:endParaRPr lang="en-US" dirty="0"/>
          </a:p>
          <a:p>
            <a:endParaRPr lang="en-US" dirty="0"/>
          </a:p>
        </p:txBody>
      </p:sp>
    </p:spTree>
    <p:extLst>
      <p:ext uri="{BB962C8B-B14F-4D97-AF65-F5344CB8AC3E}">
        <p14:creationId xmlns:p14="http://schemas.microsoft.com/office/powerpoint/2010/main" val="1181192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AD6F8-6355-4024-BC36-69639138401A}"/>
              </a:ext>
            </a:extLst>
          </p:cNvPr>
          <p:cNvSpPr>
            <a:spLocks noGrp="1"/>
          </p:cNvSpPr>
          <p:nvPr>
            <p:ph type="title"/>
          </p:nvPr>
        </p:nvSpPr>
        <p:spPr/>
        <p:txBody>
          <a:bodyPr/>
          <a:lstStyle/>
          <a:p>
            <a:r>
              <a:rPr lang="en-US" dirty="0"/>
              <a:t>Conclusion and next steps</a:t>
            </a:r>
          </a:p>
        </p:txBody>
      </p:sp>
      <p:sp>
        <p:nvSpPr>
          <p:cNvPr id="5" name="Content Placeholder 4">
            <a:extLst>
              <a:ext uri="{FF2B5EF4-FFF2-40B4-BE49-F238E27FC236}">
                <a16:creationId xmlns:a16="http://schemas.microsoft.com/office/drawing/2014/main" id="{7458E0B7-394E-466D-A15E-0CE6B9F64C4C}"/>
              </a:ext>
            </a:extLst>
          </p:cNvPr>
          <p:cNvSpPr>
            <a:spLocks noGrp="1"/>
          </p:cNvSpPr>
          <p:nvPr>
            <p:ph idx="1"/>
          </p:nvPr>
        </p:nvSpPr>
        <p:spPr/>
        <p:txBody>
          <a:bodyPr>
            <a:normAutofit/>
          </a:bodyPr>
          <a:lstStyle/>
          <a:p>
            <a:r>
              <a:rPr lang="en-US" dirty="0"/>
              <a:t>We’ve got some preliminary evidence on how this dynamic process creates concentrated poverty and makes it a hard problem to change.</a:t>
            </a:r>
          </a:p>
          <a:p>
            <a:endParaRPr lang="en-US" dirty="0"/>
          </a:p>
          <a:p>
            <a:r>
              <a:rPr lang="en-US" dirty="0"/>
              <a:t>Future steps:</a:t>
            </a:r>
          </a:p>
          <a:p>
            <a:pPr lvl="1"/>
            <a:r>
              <a:rPr lang="en-US" dirty="0"/>
              <a:t>Refine the basic things we’ve shown you today</a:t>
            </a:r>
          </a:p>
          <a:p>
            <a:pPr lvl="1"/>
            <a:r>
              <a:rPr lang="en-US" dirty="0"/>
              <a:t>Get causal estimates of how income change affects neighborhood choice</a:t>
            </a:r>
          </a:p>
          <a:p>
            <a:pPr lvl="1"/>
            <a:r>
              <a:rPr lang="en-US" dirty="0"/>
              <a:t>Enrich model with, for example, endogenous neighborhood quality</a:t>
            </a:r>
          </a:p>
          <a:p>
            <a:pPr marL="0" indent="0">
              <a:buNone/>
            </a:pPr>
            <a:endParaRPr lang="en-US" dirty="0"/>
          </a:p>
          <a:p>
            <a:endParaRPr lang="en-US" dirty="0"/>
          </a:p>
        </p:txBody>
      </p:sp>
    </p:spTree>
    <p:extLst>
      <p:ext uri="{BB962C8B-B14F-4D97-AF65-F5344CB8AC3E}">
        <p14:creationId xmlns:p14="http://schemas.microsoft.com/office/powerpoint/2010/main" val="1270940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0D32-B086-4FE3-98B2-ABAE532CB5F4}"/>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6BAC9630-A924-4A3F-A56D-9E18FC9E4EC7}"/>
              </a:ext>
            </a:extLst>
          </p:cNvPr>
          <p:cNvSpPr>
            <a:spLocks noGrp="1"/>
          </p:cNvSpPr>
          <p:nvPr>
            <p:ph idx="1"/>
          </p:nvPr>
        </p:nvSpPr>
        <p:spPr/>
        <p:txBody>
          <a:bodyPr>
            <a:normAutofit lnSpcReduction="10000"/>
          </a:bodyPr>
          <a:lstStyle/>
          <a:p>
            <a:r>
              <a:rPr lang="en-US" dirty="0"/>
              <a:t>Concentrated poverty has negative effects on labor market, education, and health outcomes of residents</a:t>
            </a:r>
          </a:p>
          <a:p>
            <a:endParaRPr lang="en-US" dirty="0"/>
          </a:p>
          <a:p>
            <a:r>
              <a:rPr lang="en-US" dirty="0"/>
              <a:t>While we’d like to get rid of concentrated poverty, it’s unfortunately n to be highly persistent.</a:t>
            </a:r>
          </a:p>
          <a:p>
            <a:pPr lvl="1"/>
            <a:r>
              <a:rPr lang="en-US" dirty="0"/>
              <a:t>In large U.S. metropolitan areas, only 2.8% of neighborhoods with poverty rate above 30% in 1990 saw that rate fall below 15% by 2016.  </a:t>
            </a:r>
          </a:p>
          <a:p>
            <a:endParaRPr lang="en-US" dirty="0"/>
          </a:p>
          <a:p>
            <a:r>
              <a:rPr lang="en-US" dirty="0"/>
              <a:t>It’s resistant to macroeconomic changes and place-based policies that target it.</a:t>
            </a:r>
          </a:p>
          <a:p>
            <a:endParaRPr lang="en-US" dirty="0"/>
          </a:p>
          <a:p>
            <a:r>
              <a:rPr lang="en-US" dirty="0"/>
              <a:t>We don’t understand why it’s such a sticky problem, and, relatedly, we don’t have a good idea of how to structure policies to get rid of it.</a:t>
            </a:r>
          </a:p>
        </p:txBody>
      </p:sp>
    </p:spTree>
    <p:extLst>
      <p:ext uri="{BB962C8B-B14F-4D97-AF65-F5344CB8AC3E}">
        <p14:creationId xmlns:p14="http://schemas.microsoft.com/office/powerpoint/2010/main" val="331969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50D32-B086-4FE3-98B2-ABAE532CB5F4}"/>
              </a:ext>
            </a:extLst>
          </p:cNvPr>
          <p:cNvSpPr>
            <a:spLocks noGrp="1"/>
          </p:cNvSpPr>
          <p:nvPr>
            <p:ph type="title"/>
          </p:nvPr>
        </p:nvSpPr>
        <p:spPr/>
        <p:txBody>
          <a:bodyPr/>
          <a:lstStyle/>
          <a:p>
            <a:r>
              <a:rPr lang="en-US" dirty="0"/>
              <a:t>Contribution and relationship to literature</a:t>
            </a:r>
          </a:p>
        </p:txBody>
      </p:sp>
      <p:sp>
        <p:nvSpPr>
          <p:cNvPr id="3" name="Content Placeholder 2">
            <a:extLst>
              <a:ext uri="{FF2B5EF4-FFF2-40B4-BE49-F238E27FC236}">
                <a16:creationId xmlns:a16="http://schemas.microsoft.com/office/drawing/2014/main" id="{6BAC9630-A924-4A3F-A56D-9E18FC9E4EC7}"/>
              </a:ext>
            </a:extLst>
          </p:cNvPr>
          <p:cNvSpPr>
            <a:spLocks noGrp="1"/>
          </p:cNvSpPr>
          <p:nvPr>
            <p:ph idx="1"/>
          </p:nvPr>
        </p:nvSpPr>
        <p:spPr/>
        <p:txBody>
          <a:bodyPr>
            <a:normAutofit/>
          </a:bodyPr>
          <a:lstStyle/>
          <a:p>
            <a:r>
              <a:rPr lang="en-US" dirty="0"/>
              <a:t>Show the importance of these processes for persistent poverty, expanding our knowledge of neighborhood formation and how to address it with policy</a:t>
            </a:r>
          </a:p>
          <a:p>
            <a:endParaRPr lang="en-US" dirty="0"/>
          </a:p>
          <a:p>
            <a:r>
              <a:rPr lang="en-US" dirty="0"/>
              <a:t>Past literature has shown that this churn exists for individuals</a:t>
            </a:r>
          </a:p>
          <a:p>
            <a:pPr lvl="1"/>
            <a:r>
              <a:rPr lang="en-US" dirty="0"/>
              <a:t>Bane and Ellwood (1986), Stevens (1994) show average poverty spell is short</a:t>
            </a:r>
          </a:p>
          <a:p>
            <a:pPr lvl="1"/>
            <a:r>
              <a:rPr lang="en-US" dirty="0"/>
              <a:t>Massey et al. (1994), </a:t>
            </a:r>
            <a:r>
              <a:rPr lang="en-US" dirty="0" err="1"/>
              <a:t>Quillian</a:t>
            </a:r>
            <a:r>
              <a:rPr lang="en-US" dirty="0"/>
              <a:t> (2003) show migration across neighborhood types</a:t>
            </a:r>
          </a:p>
          <a:p>
            <a:pPr lvl="1"/>
            <a:endParaRPr lang="en-US" dirty="0"/>
          </a:p>
          <a:p>
            <a:r>
              <a:rPr lang="en-US" dirty="0"/>
              <a:t>We build on this by:</a:t>
            </a:r>
          </a:p>
          <a:p>
            <a:pPr lvl="1"/>
            <a:r>
              <a:rPr lang="en-US" dirty="0"/>
              <a:t>Bringing together these facts, along with a coherent quantitative framework and way better data, to show how they explain persistence neighborhood characteristics </a:t>
            </a:r>
          </a:p>
          <a:p>
            <a:pPr lvl="1"/>
            <a:r>
              <a:rPr lang="en-US" dirty="0"/>
              <a:t>Showing how they influence place-based policies</a:t>
            </a:r>
          </a:p>
          <a:p>
            <a:endParaRPr lang="en-US" dirty="0"/>
          </a:p>
        </p:txBody>
      </p:sp>
    </p:spTree>
    <p:extLst>
      <p:ext uri="{BB962C8B-B14F-4D97-AF65-F5344CB8AC3E}">
        <p14:creationId xmlns:p14="http://schemas.microsoft.com/office/powerpoint/2010/main" val="28852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1334</TotalTime>
  <Words>2431</Words>
  <Application>Microsoft Office PowerPoint</Application>
  <PresentationFormat>Widescreen</PresentationFormat>
  <Paragraphs>230</Paragraphs>
  <Slides>34</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34</vt:i4>
      </vt:variant>
    </vt:vector>
  </HeadingPairs>
  <TitlesOfParts>
    <vt:vector size="39" baseType="lpstr">
      <vt:lpstr>Arial</vt:lpstr>
      <vt:lpstr>Calibri</vt:lpstr>
      <vt:lpstr>Calibri Light</vt:lpstr>
      <vt:lpstr>Office Theme</vt:lpstr>
      <vt:lpstr>1_Office Theme</vt:lpstr>
      <vt:lpstr>Concentrated Poverty, Selective Migration, and Place-Based Policy</vt:lpstr>
      <vt:lpstr>Motivation</vt:lpstr>
      <vt:lpstr>This paper: break out the migration and income churn underlying concentrated poverty</vt:lpstr>
      <vt:lpstr>(Preliminary) results preview 1 of 2—Basic statistics</vt:lpstr>
      <vt:lpstr>(Preliminary) results preview 2 of 2—Model</vt:lpstr>
      <vt:lpstr>Related literature and contribution</vt:lpstr>
      <vt:lpstr>Outline</vt:lpstr>
      <vt:lpstr>Combine several restricted files from U.S. Census Bureau</vt:lpstr>
      <vt:lpstr>Motivating fact: concentrated poverty is very persistent</vt:lpstr>
      <vt:lpstr>Outline</vt:lpstr>
      <vt:lpstr>Fact 1: There is a lot of churn across different types of neighborhoods</vt:lpstr>
      <vt:lpstr>Fact 2: Income is not stagnant (even in very poor nbhds)</vt:lpstr>
      <vt:lpstr>Outline</vt:lpstr>
      <vt:lpstr>Fact 3: People moving up the neighborhood ladder have higher income than people moving down</vt:lpstr>
      <vt:lpstr>Alternative way to show this: neighborhood transitions conditional on income</vt:lpstr>
      <vt:lpstr>Fact 4: Poor neighborhoods’ average income improve slower than average income of a cohort of their residents</vt:lpstr>
      <vt:lpstr>Outline</vt:lpstr>
      <vt:lpstr>Model overview</vt:lpstr>
      <vt:lpstr>Simulation method (1 of 2)</vt:lpstr>
      <vt:lpstr>Simulation method (2 of 2)</vt:lpstr>
      <vt:lpstr>Model caveats</vt:lpstr>
      <vt:lpstr>Outline</vt:lpstr>
      <vt:lpstr>Example: first period to second period</vt:lpstr>
      <vt:lpstr>Baseline: pop alone first, then low-income share, then median income</vt:lpstr>
      <vt:lpstr>Discussion of baseline </vt:lpstr>
      <vt:lpstr>Result 1/4: Changing baseline LI share </vt:lpstr>
      <vt:lpstr>Result 2/4: Changing income process </vt:lpstr>
      <vt:lpstr>Result 3/4: Changing retention </vt:lpstr>
      <vt:lpstr>Result 4/4: Changing process and retention </vt:lpstr>
      <vt:lpstr>Result 5/4: Changing attraction to HP</vt:lpstr>
      <vt:lpstr>Discussion</vt:lpstr>
      <vt:lpstr>Conclusion and next steps</vt:lpstr>
      <vt:lpstr>Motivation</vt:lpstr>
      <vt:lpstr>Contribution and relationship to literature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Evan Mast</dc:creator>
  <cp:lastModifiedBy>Kyra Sadovi</cp:lastModifiedBy>
  <cp:revision>102</cp:revision>
  <cp:lastPrinted>2022-04-14T15:45:10Z</cp:lastPrinted>
  <dcterms:created xsi:type="dcterms:W3CDTF">2022-03-30T15:40:09Z</dcterms:created>
  <dcterms:modified xsi:type="dcterms:W3CDTF">2022-06-06T17:54:00Z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8874c340-7ec9-459b-87b8-a7b429c69e1f</vt:lpwstr>
  </property>
  <property fmtid="{D5CDD505-2E9C-101B-9397-08002B2CF9AE}" pid="3" name="MSIP_Label_570798ba-5e99-477e-8220-0c1cb2cd7e8d_Enabled">
    <vt:lpwstr>true</vt:lpwstr>
  </property>
  <property fmtid="{D5CDD505-2E9C-101B-9397-08002B2CF9AE}" pid="4" name="MSIP_Label_570798ba-5e99-477e-8220-0c1cb2cd7e8d_SetDate">
    <vt:lpwstr>2022-06-06T17:53:46Z</vt:lpwstr>
  </property>
  <property fmtid="{D5CDD505-2E9C-101B-9397-08002B2CF9AE}" pid="5" name="MSIP_Label_570798ba-5e99-477e-8220-0c1cb2cd7e8d_Method">
    <vt:lpwstr>Privileged</vt:lpwstr>
  </property>
  <property fmtid="{D5CDD505-2E9C-101B-9397-08002B2CF9AE}" pid="6" name="MSIP_Label_570798ba-5e99-477e-8220-0c1cb2cd7e8d_Name">
    <vt:lpwstr>PERSONAL-NONWORK - FRSONLY</vt:lpwstr>
  </property>
  <property fmtid="{D5CDD505-2E9C-101B-9397-08002B2CF9AE}" pid="7" name="MSIP_Label_570798ba-5e99-477e-8220-0c1cb2cd7e8d_SiteId">
    <vt:lpwstr>87bb2570-5c1e-4973-9c37-09257a95aeb1</vt:lpwstr>
  </property>
  <property fmtid="{D5CDD505-2E9C-101B-9397-08002B2CF9AE}" pid="8" name="MSIP_Label_570798ba-5e99-477e-8220-0c1cb2cd7e8d_ActionId">
    <vt:lpwstr>e6642533-3e7d-4b2e-9781-ab22d80740e1</vt:lpwstr>
  </property>
  <property fmtid="{D5CDD505-2E9C-101B-9397-08002B2CF9AE}" pid="9" name="MSIP_Label_570798ba-5e99-477e-8220-0c1cb2cd7e8d_ContentBits">
    <vt:lpwstr>1</vt:lpwstr>
  </property>
</Properties>
</file>